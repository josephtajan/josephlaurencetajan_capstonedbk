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6" r:id="rId3"/>
    <p:sldId id="257" r:id="rId4"/>
    <p:sldId id="263" r:id="rId5"/>
    <p:sldId id="264" r:id="rId6"/>
    <p:sldId id="265" r:id="rId7"/>
    <p:sldId id="289" r:id="rId8"/>
    <p:sldId id="259" r:id="rId9"/>
    <p:sldId id="268" r:id="rId10"/>
    <p:sldId id="261" r:id="rId11"/>
    <p:sldId id="262" r:id="rId12"/>
    <p:sldId id="267" r:id="rId13"/>
    <p:sldId id="260" r:id="rId14"/>
    <p:sldId id="269" r:id="rId15"/>
    <p:sldId id="270" r:id="rId16"/>
    <p:sldId id="272" r:id="rId17"/>
    <p:sldId id="271" r:id="rId18"/>
    <p:sldId id="273" r:id="rId19"/>
    <p:sldId id="274" r:id="rId20"/>
    <p:sldId id="275" r:id="rId21"/>
    <p:sldId id="277" r:id="rId22"/>
    <p:sldId id="279" r:id="rId23"/>
    <p:sldId id="278" r:id="rId24"/>
    <p:sldId id="276"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9E52DC-DB88-3AD5-D548-9DF72F7EC06B}" v="5764" dt="2025-08-30T08:58:56.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8/30/2025</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686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8/30/2025</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62447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8/30/2025</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61410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8/30/2025</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42222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8/30/2025</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114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8/30/2025</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767139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8/30/2025</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758295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8/30/2025</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15436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8/30/2025</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386415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8/30/2025</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290516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8/30/2025</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583704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8/30/2025</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15606376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3840">
          <p15:clr>
            <a:srgbClr val="F26B43"/>
          </p15:clr>
        </p15:guide>
        <p15:guide id="3" pos="7200">
          <p15:clr>
            <a:srgbClr val="F26B43"/>
          </p15:clr>
        </p15:guide>
        <p15:guide id="4" pos="6720">
          <p15:clr>
            <a:srgbClr val="F26B43"/>
          </p15:clr>
        </p15:guide>
        <p15:guide id="16" pos="480">
          <p15:clr>
            <a:srgbClr val="F26B43"/>
          </p15:clr>
        </p15:guide>
        <p15:guide id="23" orient="horz"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Presentation of </a:t>
            </a:r>
            <a:r>
              <a:rPr lang="en-US" dirty="0">
                <a:ea typeface="+mj-lt"/>
                <a:cs typeface="+mj-lt"/>
              </a:rPr>
              <a:t>Capstone Project Statement Healthcare Claims Quality &amp; Compliance Platform</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t>Joseph Laurence C. Tajan</a:t>
            </a:r>
          </a:p>
          <a:p>
            <a:r>
              <a:rPr lang="en-US" dirty="0"/>
              <a:t>Batch 1</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91DBA-742E-D6D1-C03A-021CB34F2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A96AA-6978-55A5-AED4-08A9624F88F1}"/>
              </a:ext>
            </a:extLst>
          </p:cNvPr>
          <p:cNvSpPr>
            <a:spLocks noGrp="1"/>
          </p:cNvSpPr>
          <p:nvPr>
            <p:ph type="title"/>
          </p:nvPr>
        </p:nvSpPr>
        <p:spPr/>
        <p:txBody>
          <a:bodyPr/>
          <a:lstStyle/>
          <a:p>
            <a:r>
              <a:rPr lang="en-US" dirty="0"/>
              <a:t>CATALOG TABLEs - CONFIGURATIONS</a:t>
            </a:r>
          </a:p>
        </p:txBody>
      </p:sp>
      <p:sp>
        <p:nvSpPr>
          <p:cNvPr id="3" name="Content Placeholder 2">
            <a:extLst>
              <a:ext uri="{FF2B5EF4-FFF2-40B4-BE49-F238E27FC236}">
                <a16:creationId xmlns:a16="http://schemas.microsoft.com/office/drawing/2014/main" id="{0BB2B133-2BE6-DDDE-472E-4C5A486B9BD0}"/>
              </a:ext>
            </a:extLst>
          </p:cNvPr>
          <p:cNvSpPr>
            <a:spLocks noGrp="1"/>
          </p:cNvSpPr>
          <p:nvPr>
            <p:ph idx="1"/>
          </p:nvPr>
        </p:nvSpPr>
        <p:spPr/>
        <p:txBody>
          <a:bodyPr vert="horz" lIns="91440" tIns="45720" rIns="91440" bIns="45720" rtlCol="0" anchor="t">
            <a:normAutofit/>
          </a:bodyPr>
          <a:lstStyle/>
          <a:p>
            <a:pPr marL="0" indent="0">
              <a:buNone/>
            </a:pPr>
            <a:endParaRPr lang="en-US" dirty="0"/>
          </a:p>
          <a:p>
            <a:endParaRPr lang="en-US" dirty="0"/>
          </a:p>
        </p:txBody>
      </p:sp>
      <p:sp>
        <p:nvSpPr>
          <p:cNvPr id="4" name="Date Placeholder 3">
            <a:extLst>
              <a:ext uri="{FF2B5EF4-FFF2-40B4-BE49-F238E27FC236}">
                <a16:creationId xmlns:a16="http://schemas.microsoft.com/office/drawing/2014/main" id="{C0DB6D7B-31F3-9919-6FE1-DE9C0FA2D0DD}"/>
              </a:ext>
            </a:extLst>
          </p:cNvPr>
          <p:cNvSpPr>
            <a:spLocks noGrp="1"/>
          </p:cNvSpPr>
          <p:nvPr>
            <p:ph type="dt" sz="half" idx="10"/>
          </p:nvPr>
        </p:nvSpPr>
        <p:spPr/>
        <p:txBody>
          <a:bodyPr/>
          <a:lstStyle/>
          <a:p>
            <a:fld id="{7A9E0669-C375-4B7B-970C-0E7A4381822B}" type="datetime1">
              <a:t>8/30/2025</a:t>
            </a:fld>
            <a:endParaRPr lang="en-US" dirty="0"/>
          </a:p>
        </p:txBody>
      </p:sp>
      <p:sp>
        <p:nvSpPr>
          <p:cNvPr id="5" name="Footer Placeholder 4">
            <a:extLst>
              <a:ext uri="{FF2B5EF4-FFF2-40B4-BE49-F238E27FC236}">
                <a16:creationId xmlns:a16="http://schemas.microsoft.com/office/drawing/2014/main" id="{45000CF2-8943-7BBD-2777-D06FE719CC3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D505B4F-8AB5-65A6-A073-1E8C2228BC0F}"/>
              </a:ext>
            </a:extLst>
          </p:cNvPr>
          <p:cNvSpPr>
            <a:spLocks noGrp="1"/>
          </p:cNvSpPr>
          <p:nvPr>
            <p:ph type="sldNum" sz="quarter" idx="12"/>
          </p:nvPr>
        </p:nvSpPr>
        <p:spPr/>
        <p:txBody>
          <a:bodyPr/>
          <a:lstStyle/>
          <a:p>
            <a:fld id="{196A61CA-0502-4EE4-9724-96EA822543E5}" type="slidenum">
              <a:rPr lang="en-US" dirty="0"/>
              <a:t>2</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E29F2641-8B20-C41A-2CCC-4776AD029E55}"/>
              </a:ext>
            </a:extLst>
          </p:cNvPr>
          <p:cNvPicPr>
            <a:picLocks noChangeAspect="1"/>
          </p:cNvPicPr>
          <p:nvPr/>
        </p:nvPicPr>
        <p:blipFill>
          <a:blip r:embed="rId2"/>
          <a:stretch>
            <a:fillRect/>
          </a:stretch>
        </p:blipFill>
        <p:spPr>
          <a:xfrm>
            <a:off x="1828800" y="2070327"/>
            <a:ext cx="8534400" cy="3152775"/>
          </a:xfrm>
          <a:prstGeom prst="rect">
            <a:avLst/>
          </a:prstGeom>
        </p:spPr>
      </p:pic>
    </p:spTree>
    <p:extLst>
      <p:ext uri="{BB962C8B-B14F-4D97-AF65-F5344CB8AC3E}">
        <p14:creationId xmlns:p14="http://schemas.microsoft.com/office/powerpoint/2010/main" val="225452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DF05-88A6-B2C7-60F8-B4AB875051D6}"/>
              </a:ext>
            </a:extLst>
          </p:cNvPr>
          <p:cNvSpPr>
            <a:spLocks noGrp="1"/>
          </p:cNvSpPr>
          <p:nvPr>
            <p:ph type="title"/>
          </p:nvPr>
        </p:nvSpPr>
        <p:spPr/>
        <p:txBody>
          <a:bodyPr/>
          <a:lstStyle/>
          <a:p>
            <a:r>
              <a:rPr lang="en-US" dirty="0"/>
              <a:t>Overview of the project</a:t>
            </a:r>
          </a:p>
        </p:txBody>
      </p:sp>
      <p:sp>
        <p:nvSpPr>
          <p:cNvPr id="3" name="Content Placeholder 2">
            <a:extLst>
              <a:ext uri="{FF2B5EF4-FFF2-40B4-BE49-F238E27FC236}">
                <a16:creationId xmlns:a16="http://schemas.microsoft.com/office/drawing/2014/main" id="{26E0A786-9E86-C2B3-F258-56FAC4B84816}"/>
              </a:ext>
            </a:extLst>
          </p:cNvPr>
          <p:cNvSpPr>
            <a:spLocks noGrp="1"/>
          </p:cNvSpPr>
          <p:nvPr>
            <p:ph idx="1"/>
          </p:nvPr>
        </p:nvSpPr>
        <p:spPr/>
        <p:txBody>
          <a:bodyPr vert="horz" lIns="91440" tIns="45720" rIns="91440" bIns="45720" rtlCol="0" anchor="t">
            <a:normAutofit/>
          </a:bodyPr>
          <a:lstStyle/>
          <a:p>
            <a:pPr marL="0" indent="0">
              <a:buNone/>
            </a:pPr>
            <a:r>
              <a:rPr lang="en-US"/>
              <a:t>Listed below are all Databricks Notebooks used by the pipeline to automate the ETL process:</a:t>
            </a:r>
          </a:p>
          <a:p>
            <a:pPr marL="285750" indent="-285750"/>
            <a:r>
              <a:rPr lang="en-US"/>
              <a:t>Config – </a:t>
            </a:r>
            <a:r>
              <a:rPr lang="en-US" err="1"/>
              <a:t>config_init</a:t>
            </a:r>
            <a:r>
              <a:rPr lang="en-US"/>
              <a:t>, </a:t>
            </a:r>
            <a:r>
              <a:rPr lang="en-US" err="1"/>
              <a:t>config_tables</a:t>
            </a:r>
            <a:r>
              <a:rPr lang="en-US"/>
              <a:t>, </a:t>
            </a:r>
            <a:r>
              <a:rPr lang="en-US" err="1"/>
              <a:t>config_setip</a:t>
            </a:r>
            <a:endParaRPr lang="en-US"/>
          </a:p>
          <a:p>
            <a:r>
              <a:rPr lang="en-US" dirty="0"/>
              <a:t>Bronze – 00_files_landing,</a:t>
            </a:r>
            <a:r>
              <a:rPr lang="en-US"/>
              <a:t> 01_ingest, 02_archive</a:t>
            </a:r>
            <a:endParaRPr lang="en-US" dirty="0"/>
          </a:p>
          <a:p>
            <a:r>
              <a:rPr lang="en-US"/>
              <a:t>Silver – 00_clean, 01_transform_claims_batch</a:t>
            </a:r>
            <a:endParaRPr lang="en-US" dirty="0"/>
          </a:p>
          <a:p>
            <a:r>
              <a:rPr lang="en-US"/>
              <a:t>Gold – 00_curate</a:t>
            </a:r>
            <a:endParaRPr lang="en-US" dirty="0"/>
          </a:p>
          <a:p>
            <a:endParaRPr lang="en-US" dirty="0"/>
          </a:p>
        </p:txBody>
      </p:sp>
      <p:sp>
        <p:nvSpPr>
          <p:cNvPr id="4" name="Date Placeholder 3">
            <a:extLst>
              <a:ext uri="{FF2B5EF4-FFF2-40B4-BE49-F238E27FC236}">
                <a16:creationId xmlns:a16="http://schemas.microsoft.com/office/drawing/2014/main" id="{C4F19EDA-8A48-80E1-F337-E20858AA1D69}"/>
              </a:ext>
            </a:extLst>
          </p:cNvPr>
          <p:cNvSpPr>
            <a:spLocks noGrp="1"/>
          </p:cNvSpPr>
          <p:nvPr>
            <p:ph type="dt" sz="half" idx="10"/>
          </p:nvPr>
        </p:nvSpPr>
        <p:spPr/>
        <p:txBody>
          <a:bodyPr/>
          <a:lstStyle/>
          <a:p>
            <a:fld id="{7A9E0669-C375-4B7B-970C-0E7A4381822B}" type="datetime1">
              <a:t>8/30/2025</a:t>
            </a:fld>
            <a:endParaRPr lang="en-US" dirty="0"/>
          </a:p>
        </p:txBody>
      </p:sp>
      <p:sp>
        <p:nvSpPr>
          <p:cNvPr id="5" name="Footer Placeholder 4">
            <a:extLst>
              <a:ext uri="{FF2B5EF4-FFF2-40B4-BE49-F238E27FC236}">
                <a16:creationId xmlns:a16="http://schemas.microsoft.com/office/drawing/2014/main" id="{0C4C6C52-E035-34CC-619F-E126E4FC595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C9549A1-9487-FB11-79CA-6908E4A16823}"/>
              </a:ext>
            </a:extLst>
          </p:cNvPr>
          <p:cNvSpPr>
            <a:spLocks noGrp="1"/>
          </p:cNvSpPr>
          <p:nvPr>
            <p:ph type="sldNum" sz="quarter" idx="12"/>
          </p:nvPr>
        </p:nvSpPr>
        <p:spPr/>
        <p:txBody>
          <a:bodyPr/>
          <a:lstStyle/>
          <a:p>
            <a:fld id="{196A61CA-0502-4EE4-9724-96EA822543E5}" type="slidenum">
              <a:rPr lang="en-US" dirty="0"/>
              <a:t>3</a:t>
            </a:fld>
            <a:endParaRPr lang="en-US" dirty="0"/>
          </a:p>
        </p:txBody>
      </p:sp>
    </p:spTree>
    <p:extLst>
      <p:ext uri="{BB962C8B-B14F-4D97-AF65-F5344CB8AC3E}">
        <p14:creationId xmlns:p14="http://schemas.microsoft.com/office/powerpoint/2010/main" val="282059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C49F-0638-83BB-88C1-83D6C4BBC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CAD74-2259-0801-BECF-509A17E7B812}"/>
              </a:ext>
            </a:extLst>
          </p:cNvPr>
          <p:cNvSpPr>
            <a:spLocks noGrp="1"/>
          </p:cNvSpPr>
          <p:nvPr>
            <p:ph type="title"/>
          </p:nvPr>
        </p:nvSpPr>
        <p:spPr/>
        <p:txBody>
          <a:bodyPr/>
          <a:lstStyle/>
          <a:p>
            <a:r>
              <a:rPr lang="en-US" dirty="0"/>
              <a:t>CATALOG TABLEs - BRONZE</a:t>
            </a:r>
          </a:p>
        </p:txBody>
      </p:sp>
      <p:sp>
        <p:nvSpPr>
          <p:cNvPr id="3" name="Content Placeholder 2">
            <a:extLst>
              <a:ext uri="{FF2B5EF4-FFF2-40B4-BE49-F238E27FC236}">
                <a16:creationId xmlns:a16="http://schemas.microsoft.com/office/drawing/2014/main" id="{ED3A40E8-8F76-AEF4-E2EA-BAFC0B953DCF}"/>
              </a:ext>
            </a:extLst>
          </p:cNvPr>
          <p:cNvSpPr>
            <a:spLocks noGrp="1"/>
          </p:cNvSpPr>
          <p:nvPr>
            <p:ph idx="1"/>
          </p:nvPr>
        </p:nvSpPr>
        <p:spPr/>
        <p:txBody>
          <a:bodyPr vert="horz" lIns="91440" tIns="45720" rIns="91440" bIns="45720" rtlCol="0" anchor="t">
            <a:normAutofit/>
          </a:bodyPr>
          <a:lstStyle/>
          <a:p>
            <a:pPr marL="0" indent="0">
              <a:buNone/>
            </a:pPr>
            <a:endParaRPr lang="en-US" dirty="0"/>
          </a:p>
          <a:p>
            <a:endParaRPr lang="en-US" dirty="0"/>
          </a:p>
        </p:txBody>
      </p:sp>
      <p:sp>
        <p:nvSpPr>
          <p:cNvPr id="4" name="Date Placeholder 3">
            <a:extLst>
              <a:ext uri="{FF2B5EF4-FFF2-40B4-BE49-F238E27FC236}">
                <a16:creationId xmlns:a16="http://schemas.microsoft.com/office/drawing/2014/main" id="{A300D8E1-F68B-2CB4-8FBD-954D214166FD}"/>
              </a:ext>
            </a:extLst>
          </p:cNvPr>
          <p:cNvSpPr>
            <a:spLocks noGrp="1"/>
          </p:cNvSpPr>
          <p:nvPr>
            <p:ph type="dt" sz="half" idx="10"/>
          </p:nvPr>
        </p:nvSpPr>
        <p:spPr/>
        <p:txBody>
          <a:bodyPr/>
          <a:lstStyle/>
          <a:p>
            <a:fld id="{7A9E0669-C375-4B7B-970C-0E7A4381822B}" type="datetime1">
              <a:t>8/30/2025</a:t>
            </a:fld>
            <a:endParaRPr lang="en-US" dirty="0"/>
          </a:p>
        </p:txBody>
      </p:sp>
      <p:sp>
        <p:nvSpPr>
          <p:cNvPr id="5" name="Footer Placeholder 4">
            <a:extLst>
              <a:ext uri="{FF2B5EF4-FFF2-40B4-BE49-F238E27FC236}">
                <a16:creationId xmlns:a16="http://schemas.microsoft.com/office/drawing/2014/main" id="{D05369BF-567C-82A2-17E0-85E095C8D85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6055827-B79D-605D-27E1-BF39523254FB}"/>
              </a:ext>
            </a:extLst>
          </p:cNvPr>
          <p:cNvSpPr>
            <a:spLocks noGrp="1"/>
          </p:cNvSpPr>
          <p:nvPr>
            <p:ph type="sldNum" sz="quarter" idx="12"/>
          </p:nvPr>
        </p:nvSpPr>
        <p:spPr/>
        <p:txBody>
          <a:bodyPr/>
          <a:lstStyle/>
          <a:p>
            <a:fld id="{196A61CA-0502-4EE4-9724-96EA822543E5}" type="slidenum">
              <a:rPr lang="en-US" dirty="0"/>
              <a:t>4</a:t>
            </a:fld>
            <a:endParaRPr lang="en-US" dirty="0"/>
          </a:p>
        </p:txBody>
      </p:sp>
      <p:pic>
        <p:nvPicPr>
          <p:cNvPr id="7" name="Picture 6" descr="A screenshot of a computer&#10;&#10;AI-generated content may be incorrect.">
            <a:extLst>
              <a:ext uri="{FF2B5EF4-FFF2-40B4-BE49-F238E27FC236}">
                <a16:creationId xmlns:a16="http://schemas.microsoft.com/office/drawing/2014/main" id="{80A50E1E-ABA8-D7B8-2A54-ED1D1A92371A}"/>
              </a:ext>
            </a:extLst>
          </p:cNvPr>
          <p:cNvPicPr>
            <a:picLocks noChangeAspect="1"/>
          </p:cNvPicPr>
          <p:nvPr/>
        </p:nvPicPr>
        <p:blipFill>
          <a:blip r:embed="rId2"/>
          <a:stretch>
            <a:fillRect/>
          </a:stretch>
        </p:blipFill>
        <p:spPr>
          <a:xfrm>
            <a:off x="1824038" y="1903639"/>
            <a:ext cx="8543925" cy="4552950"/>
          </a:xfrm>
          <a:prstGeom prst="rect">
            <a:avLst/>
          </a:prstGeom>
        </p:spPr>
      </p:pic>
    </p:spTree>
    <p:extLst>
      <p:ext uri="{BB962C8B-B14F-4D97-AF65-F5344CB8AC3E}">
        <p14:creationId xmlns:p14="http://schemas.microsoft.com/office/powerpoint/2010/main" val="2474011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CA13B-449D-A77F-6C09-54403B8EF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1E125-B9AB-9375-7452-5F78D1CC3F9C}"/>
              </a:ext>
            </a:extLst>
          </p:cNvPr>
          <p:cNvSpPr>
            <a:spLocks noGrp="1"/>
          </p:cNvSpPr>
          <p:nvPr>
            <p:ph type="title"/>
          </p:nvPr>
        </p:nvSpPr>
        <p:spPr/>
        <p:txBody>
          <a:bodyPr/>
          <a:lstStyle/>
          <a:p>
            <a:r>
              <a:rPr lang="en-US" dirty="0"/>
              <a:t>CATALOG TABLEs - SILVER</a:t>
            </a:r>
          </a:p>
        </p:txBody>
      </p:sp>
      <p:sp>
        <p:nvSpPr>
          <p:cNvPr id="3" name="Content Placeholder 2">
            <a:extLst>
              <a:ext uri="{FF2B5EF4-FFF2-40B4-BE49-F238E27FC236}">
                <a16:creationId xmlns:a16="http://schemas.microsoft.com/office/drawing/2014/main" id="{5BB4C75B-ED36-80DF-5DE6-C69A0193A1D3}"/>
              </a:ext>
            </a:extLst>
          </p:cNvPr>
          <p:cNvSpPr>
            <a:spLocks noGrp="1"/>
          </p:cNvSpPr>
          <p:nvPr>
            <p:ph idx="1"/>
          </p:nvPr>
        </p:nvSpPr>
        <p:spPr/>
        <p:txBody>
          <a:bodyPr vert="horz" lIns="91440" tIns="45720" rIns="91440" bIns="45720" rtlCol="0" anchor="t">
            <a:normAutofit/>
          </a:bodyPr>
          <a:lstStyle/>
          <a:p>
            <a:pPr marL="0" indent="0">
              <a:buNone/>
            </a:pPr>
            <a:endParaRPr lang="en-US" dirty="0"/>
          </a:p>
          <a:p>
            <a:endParaRPr lang="en-US" dirty="0"/>
          </a:p>
        </p:txBody>
      </p:sp>
      <p:sp>
        <p:nvSpPr>
          <p:cNvPr id="4" name="Date Placeholder 3">
            <a:extLst>
              <a:ext uri="{FF2B5EF4-FFF2-40B4-BE49-F238E27FC236}">
                <a16:creationId xmlns:a16="http://schemas.microsoft.com/office/drawing/2014/main" id="{D7DE77A2-E150-999D-CBF1-1E79FB5A30A2}"/>
              </a:ext>
            </a:extLst>
          </p:cNvPr>
          <p:cNvSpPr>
            <a:spLocks noGrp="1"/>
          </p:cNvSpPr>
          <p:nvPr>
            <p:ph type="dt" sz="half" idx="10"/>
          </p:nvPr>
        </p:nvSpPr>
        <p:spPr/>
        <p:txBody>
          <a:bodyPr/>
          <a:lstStyle/>
          <a:p>
            <a:fld id="{7A9E0669-C375-4B7B-970C-0E7A4381822B}" type="datetime1">
              <a:t>8/30/2025</a:t>
            </a:fld>
            <a:endParaRPr lang="en-US" dirty="0"/>
          </a:p>
        </p:txBody>
      </p:sp>
      <p:sp>
        <p:nvSpPr>
          <p:cNvPr id="5" name="Footer Placeholder 4">
            <a:extLst>
              <a:ext uri="{FF2B5EF4-FFF2-40B4-BE49-F238E27FC236}">
                <a16:creationId xmlns:a16="http://schemas.microsoft.com/office/drawing/2014/main" id="{98C0EB32-7A13-D193-176B-FC7A0543A23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D5631A8-A14A-07D5-D3D1-F7A9A43FAD81}"/>
              </a:ext>
            </a:extLst>
          </p:cNvPr>
          <p:cNvSpPr>
            <a:spLocks noGrp="1"/>
          </p:cNvSpPr>
          <p:nvPr>
            <p:ph type="sldNum" sz="quarter" idx="12"/>
          </p:nvPr>
        </p:nvSpPr>
        <p:spPr/>
        <p:txBody>
          <a:bodyPr/>
          <a:lstStyle/>
          <a:p>
            <a:fld id="{196A61CA-0502-4EE4-9724-96EA822543E5}" type="slidenum">
              <a:rPr lang="en-US" dirty="0"/>
              <a:t>5</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3CCE5CC3-50FE-5659-23C9-81A8C8374504}"/>
              </a:ext>
            </a:extLst>
          </p:cNvPr>
          <p:cNvPicPr>
            <a:picLocks noChangeAspect="1"/>
          </p:cNvPicPr>
          <p:nvPr/>
        </p:nvPicPr>
        <p:blipFill>
          <a:blip r:embed="rId2"/>
          <a:stretch>
            <a:fillRect/>
          </a:stretch>
        </p:blipFill>
        <p:spPr>
          <a:xfrm>
            <a:off x="1881188" y="1903639"/>
            <a:ext cx="8429625" cy="4857750"/>
          </a:xfrm>
          <a:prstGeom prst="rect">
            <a:avLst/>
          </a:prstGeom>
        </p:spPr>
      </p:pic>
    </p:spTree>
    <p:extLst>
      <p:ext uri="{BB962C8B-B14F-4D97-AF65-F5344CB8AC3E}">
        <p14:creationId xmlns:p14="http://schemas.microsoft.com/office/powerpoint/2010/main" val="309307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B4D70-A4CF-3F7C-E14F-A96FD293C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35DDF-6E9C-3AC1-A6B2-56714C768640}"/>
              </a:ext>
            </a:extLst>
          </p:cNvPr>
          <p:cNvSpPr>
            <a:spLocks noGrp="1"/>
          </p:cNvSpPr>
          <p:nvPr>
            <p:ph type="title"/>
          </p:nvPr>
        </p:nvSpPr>
        <p:spPr/>
        <p:txBody>
          <a:bodyPr/>
          <a:lstStyle/>
          <a:p>
            <a:r>
              <a:rPr lang="en-US" dirty="0"/>
              <a:t>CATALOG TABLEs - GOLD</a:t>
            </a:r>
          </a:p>
        </p:txBody>
      </p:sp>
      <p:sp>
        <p:nvSpPr>
          <p:cNvPr id="3" name="Content Placeholder 2">
            <a:extLst>
              <a:ext uri="{FF2B5EF4-FFF2-40B4-BE49-F238E27FC236}">
                <a16:creationId xmlns:a16="http://schemas.microsoft.com/office/drawing/2014/main" id="{0E0B2C04-0DB8-8E61-9C8E-1FF985DD7813}"/>
              </a:ext>
            </a:extLst>
          </p:cNvPr>
          <p:cNvSpPr>
            <a:spLocks noGrp="1"/>
          </p:cNvSpPr>
          <p:nvPr>
            <p:ph idx="1"/>
          </p:nvPr>
        </p:nvSpPr>
        <p:spPr/>
        <p:txBody>
          <a:bodyPr vert="horz" lIns="91440" tIns="45720" rIns="91440" bIns="45720" rtlCol="0" anchor="t">
            <a:normAutofit/>
          </a:bodyPr>
          <a:lstStyle/>
          <a:p>
            <a:pPr marL="0" indent="0">
              <a:buNone/>
            </a:pPr>
            <a:endParaRPr lang="en-US" dirty="0"/>
          </a:p>
          <a:p>
            <a:endParaRPr lang="en-US" dirty="0"/>
          </a:p>
        </p:txBody>
      </p:sp>
      <p:sp>
        <p:nvSpPr>
          <p:cNvPr id="4" name="Date Placeholder 3">
            <a:extLst>
              <a:ext uri="{FF2B5EF4-FFF2-40B4-BE49-F238E27FC236}">
                <a16:creationId xmlns:a16="http://schemas.microsoft.com/office/drawing/2014/main" id="{A51EAA98-4E9E-E923-7DEF-67561045967D}"/>
              </a:ext>
            </a:extLst>
          </p:cNvPr>
          <p:cNvSpPr>
            <a:spLocks noGrp="1"/>
          </p:cNvSpPr>
          <p:nvPr>
            <p:ph type="dt" sz="half" idx="10"/>
          </p:nvPr>
        </p:nvSpPr>
        <p:spPr/>
        <p:txBody>
          <a:bodyPr/>
          <a:lstStyle/>
          <a:p>
            <a:fld id="{7A9E0669-C375-4B7B-970C-0E7A4381822B}" type="datetime1">
              <a:t>8/30/2025</a:t>
            </a:fld>
            <a:endParaRPr lang="en-US" dirty="0"/>
          </a:p>
        </p:txBody>
      </p:sp>
      <p:sp>
        <p:nvSpPr>
          <p:cNvPr id="5" name="Footer Placeholder 4">
            <a:extLst>
              <a:ext uri="{FF2B5EF4-FFF2-40B4-BE49-F238E27FC236}">
                <a16:creationId xmlns:a16="http://schemas.microsoft.com/office/drawing/2014/main" id="{508731EC-3C6A-EDAF-B14E-5DE74B9033C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D979FD-39B1-1145-A6F9-4C7251298B70}"/>
              </a:ext>
            </a:extLst>
          </p:cNvPr>
          <p:cNvSpPr>
            <a:spLocks noGrp="1"/>
          </p:cNvSpPr>
          <p:nvPr>
            <p:ph type="sldNum" sz="quarter" idx="12"/>
          </p:nvPr>
        </p:nvSpPr>
        <p:spPr/>
        <p:txBody>
          <a:bodyPr/>
          <a:lstStyle/>
          <a:p>
            <a:fld id="{196A61CA-0502-4EE4-9724-96EA822543E5}" type="slidenum">
              <a:rPr lang="en-US" dirty="0"/>
              <a:t>6</a:t>
            </a:fld>
            <a:endParaRPr lang="en-US" dirty="0"/>
          </a:p>
        </p:txBody>
      </p:sp>
      <p:pic>
        <p:nvPicPr>
          <p:cNvPr id="7" name="Picture 6" descr="A screenshot of a computer&#10;&#10;AI-generated content may be incorrect.">
            <a:extLst>
              <a:ext uri="{FF2B5EF4-FFF2-40B4-BE49-F238E27FC236}">
                <a16:creationId xmlns:a16="http://schemas.microsoft.com/office/drawing/2014/main" id="{573A4C54-A569-3BFA-CB61-C63D6B5F2257}"/>
              </a:ext>
            </a:extLst>
          </p:cNvPr>
          <p:cNvPicPr>
            <a:picLocks noChangeAspect="1"/>
          </p:cNvPicPr>
          <p:nvPr/>
        </p:nvPicPr>
        <p:blipFill>
          <a:blip r:embed="rId2"/>
          <a:stretch>
            <a:fillRect/>
          </a:stretch>
        </p:blipFill>
        <p:spPr>
          <a:xfrm>
            <a:off x="1843088" y="1905680"/>
            <a:ext cx="8505825" cy="4657725"/>
          </a:xfrm>
          <a:prstGeom prst="rect">
            <a:avLst/>
          </a:prstGeom>
        </p:spPr>
      </p:pic>
    </p:spTree>
    <p:extLst>
      <p:ext uri="{BB962C8B-B14F-4D97-AF65-F5344CB8AC3E}">
        <p14:creationId xmlns:p14="http://schemas.microsoft.com/office/powerpoint/2010/main" val="344243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B6D1B-16E4-C753-FD3C-DEA43B312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4264F-AF6C-4101-A1F9-86FD8DEF516F}"/>
              </a:ext>
            </a:extLst>
          </p:cNvPr>
          <p:cNvSpPr>
            <a:spLocks noGrp="1"/>
          </p:cNvSpPr>
          <p:nvPr>
            <p:ph type="title"/>
          </p:nvPr>
        </p:nvSpPr>
        <p:spPr/>
        <p:txBody>
          <a:bodyPr/>
          <a:lstStyle/>
          <a:p>
            <a:r>
              <a:rPr lang="en-US" dirty="0"/>
              <a:t>VOLUMES AND CATALOG OVERVIEW</a:t>
            </a:r>
          </a:p>
        </p:txBody>
      </p:sp>
      <p:sp>
        <p:nvSpPr>
          <p:cNvPr id="3" name="Content Placeholder 2">
            <a:extLst>
              <a:ext uri="{FF2B5EF4-FFF2-40B4-BE49-F238E27FC236}">
                <a16:creationId xmlns:a16="http://schemas.microsoft.com/office/drawing/2014/main" id="{5282D3CD-779D-8AB0-248C-44343D8AA69E}"/>
              </a:ext>
            </a:extLst>
          </p:cNvPr>
          <p:cNvSpPr>
            <a:spLocks noGrp="1"/>
          </p:cNvSpPr>
          <p:nvPr>
            <p:ph idx="1"/>
          </p:nvPr>
        </p:nvSpPr>
        <p:spPr/>
        <p:txBody>
          <a:bodyPr vert="horz" lIns="91440" tIns="45720" rIns="91440" bIns="45720" rtlCol="0" anchor="t">
            <a:normAutofit/>
          </a:bodyPr>
          <a:lstStyle/>
          <a:p>
            <a:pPr marL="0" indent="0">
              <a:buNone/>
            </a:pPr>
            <a:endParaRPr lang="en-US" dirty="0"/>
          </a:p>
          <a:p>
            <a:endParaRPr lang="en-US" dirty="0"/>
          </a:p>
        </p:txBody>
      </p:sp>
      <p:sp>
        <p:nvSpPr>
          <p:cNvPr id="4" name="Date Placeholder 3">
            <a:extLst>
              <a:ext uri="{FF2B5EF4-FFF2-40B4-BE49-F238E27FC236}">
                <a16:creationId xmlns:a16="http://schemas.microsoft.com/office/drawing/2014/main" id="{37D64E91-141A-A977-3957-5CD222CA81A9}"/>
              </a:ext>
            </a:extLst>
          </p:cNvPr>
          <p:cNvSpPr>
            <a:spLocks noGrp="1"/>
          </p:cNvSpPr>
          <p:nvPr>
            <p:ph type="dt" sz="half" idx="10"/>
          </p:nvPr>
        </p:nvSpPr>
        <p:spPr/>
        <p:txBody>
          <a:bodyPr/>
          <a:lstStyle/>
          <a:p>
            <a:fld id="{7A9E0669-C375-4B7B-970C-0E7A4381822B}" type="datetime1">
              <a:t>8/30/2025</a:t>
            </a:fld>
            <a:endParaRPr lang="en-US" dirty="0"/>
          </a:p>
        </p:txBody>
      </p:sp>
      <p:sp>
        <p:nvSpPr>
          <p:cNvPr id="5" name="Footer Placeholder 4">
            <a:extLst>
              <a:ext uri="{FF2B5EF4-FFF2-40B4-BE49-F238E27FC236}">
                <a16:creationId xmlns:a16="http://schemas.microsoft.com/office/drawing/2014/main" id="{F82C506F-6BAC-C336-0CD0-98E4951CAFB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D1A3793-ED8A-4273-5588-3162BF26B3A2}"/>
              </a:ext>
            </a:extLst>
          </p:cNvPr>
          <p:cNvSpPr>
            <a:spLocks noGrp="1"/>
          </p:cNvSpPr>
          <p:nvPr>
            <p:ph type="sldNum" sz="quarter" idx="12"/>
          </p:nvPr>
        </p:nvSpPr>
        <p:spPr/>
        <p:txBody>
          <a:bodyPr/>
          <a:lstStyle/>
          <a:p>
            <a:fld id="{196A61CA-0502-4EE4-9724-96EA822543E5}" type="slidenum">
              <a:rPr lang="en-US" dirty="0"/>
              <a:t>7</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EE30F0AF-5E07-D2FB-9233-443B99A6C26F}"/>
              </a:ext>
            </a:extLst>
          </p:cNvPr>
          <p:cNvPicPr>
            <a:picLocks noChangeAspect="1"/>
          </p:cNvPicPr>
          <p:nvPr/>
        </p:nvPicPr>
        <p:blipFill>
          <a:blip r:embed="rId2"/>
          <a:stretch>
            <a:fillRect/>
          </a:stretch>
        </p:blipFill>
        <p:spPr>
          <a:xfrm>
            <a:off x="1426709" y="1785257"/>
            <a:ext cx="4505325" cy="487680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31EAFCF-67D8-F690-229D-8815B2296898}"/>
              </a:ext>
            </a:extLst>
          </p:cNvPr>
          <p:cNvPicPr>
            <a:picLocks noChangeAspect="1"/>
          </p:cNvPicPr>
          <p:nvPr/>
        </p:nvPicPr>
        <p:blipFill>
          <a:blip r:embed="rId3"/>
          <a:stretch>
            <a:fillRect/>
          </a:stretch>
        </p:blipFill>
        <p:spPr>
          <a:xfrm>
            <a:off x="5934755" y="1781175"/>
            <a:ext cx="5155746" cy="4884964"/>
          </a:xfrm>
          <a:prstGeom prst="rect">
            <a:avLst/>
          </a:prstGeom>
        </p:spPr>
      </p:pic>
    </p:spTree>
    <p:extLst>
      <p:ext uri="{BB962C8B-B14F-4D97-AF65-F5344CB8AC3E}">
        <p14:creationId xmlns:p14="http://schemas.microsoft.com/office/powerpoint/2010/main" val="202569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B5A9-1DB1-0322-46BD-30077A00E717}"/>
              </a:ext>
            </a:extLst>
          </p:cNvPr>
          <p:cNvSpPr>
            <a:spLocks noGrp="1"/>
          </p:cNvSpPr>
          <p:nvPr>
            <p:ph type="title"/>
          </p:nvPr>
        </p:nvSpPr>
        <p:spPr/>
        <p:txBody>
          <a:bodyPr/>
          <a:lstStyle/>
          <a:p>
            <a:r>
              <a:rPr lang="en-US" dirty="0"/>
              <a:t>CONFIG</a:t>
            </a:r>
          </a:p>
        </p:txBody>
      </p:sp>
      <p:sp>
        <p:nvSpPr>
          <p:cNvPr id="3" name="Content Placeholder 2">
            <a:extLst>
              <a:ext uri="{FF2B5EF4-FFF2-40B4-BE49-F238E27FC236}">
                <a16:creationId xmlns:a16="http://schemas.microsoft.com/office/drawing/2014/main" id="{3579F231-3CF0-44E2-8A43-0859A4582EDF}"/>
              </a:ext>
            </a:extLst>
          </p:cNvPr>
          <p:cNvSpPr>
            <a:spLocks noGrp="1"/>
          </p:cNvSpPr>
          <p:nvPr>
            <p:ph sz="half" idx="1"/>
          </p:nvPr>
        </p:nvSpPr>
        <p:spPr/>
        <p:txBody>
          <a:bodyPr vert="horz" lIns="91440" tIns="45720" rIns="91440" bIns="45720" rtlCol="0" anchor="t">
            <a:normAutofit/>
          </a:bodyPr>
          <a:lstStyle/>
          <a:p>
            <a:r>
              <a:rPr lang="en-US" dirty="0"/>
              <a:t>The config part of the pipeline contains the user defined functions, setup of our configurations and creation of our catalog tables.</a:t>
            </a:r>
          </a:p>
        </p:txBody>
      </p:sp>
      <p:pic>
        <p:nvPicPr>
          <p:cNvPr id="8" name="Content Placeholder 7" descr="A screenshot of a computer&#10;&#10;AI-generated content may be incorrect.">
            <a:extLst>
              <a:ext uri="{FF2B5EF4-FFF2-40B4-BE49-F238E27FC236}">
                <a16:creationId xmlns:a16="http://schemas.microsoft.com/office/drawing/2014/main" id="{588B897C-A476-2405-9515-DD1462372DB0}"/>
              </a:ext>
            </a:extLst>
          </p:cNvPr>
          <p:cNvPicPr>
            <a:picLocks noGrp="1" noChangeAspect="1"/>
          </p:cNvPicPr>
          <p:nvPr>
            <p:ph sz="half" idx="2"/>
          </p:nvPr>
        </p:nvPicPr>
        <p:blipFill>
          <a:blip r:embed="rId2"/>
          <a:stretch>
            <a:fillRect/>
          </a:stretch>
        </p:blipFill>
        <p:spPr>
          <a:xfrm>
            <a:off x="6535511" y="2319639"/>
            <a:ext cx="4476750" cy="2645228"/>
          </a:xfrm>
          <a:prstGeom prst="rect">
            <a:avLst/>
          </a:prstGeom>
        </p:spPr>
      </p:pic>
      <p:sp>
        <p:nvSpPr>
          <p:cNvPr id="5" name="Date Placeholder 4">
            <a:extLst>
              <a:ext uri="{FF2B5EF4-FFF2-40B4-BE49-F238E27FC236}">
                <a16:creationId xmlns:a16="http://schemas.microsoft.com/office/drawing/2014/main" id="{94F3C1F5-D124-D6EE-88E4-9EC600915194}"/>
              </a:ext>
            </a:extLst>
          </p:cNvPr>
          <p:cNvSpPr>
            <a:spLocks noGrp="1"/>
          </p:cNvSpPr>
          <p:nvPr>
            <p:ph type="dt" sz="half" idx="10"/>
          </p:nvPr>
        </p:nvSpPr>
        <p:spPr/>
        <p:txBody>
          <a:bodyPr/>
          <a:lstStyle/>
          <a:p>
            <a:fld id="{9EF6C93B-41BA-45CC-9595-730922C604F7}" type="datetime1">
              <a:t>8/30/2025</a:t>
            </a:fld>
            <a:endParaRPr lang="en-US" dirty="0"/>
          </a:p>
        </p:txBody>
      </p:sp>
      <p:sp>
        <p:nvSpPr>
          <p:cNvPr id="6" name="Footer Placeholder 5">
            <a:extLst>
              <a:ext uri="{FF2B5EF4-FFF2-40B4-BE49-F238E27FC236}">
                <a16:creationId xmlns:a16="http://schemas.microsoft.com/office/drawing/2014/main" id="{EACFB4F9-33AB-B1AF-9F8B-AE5F2AE422B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0C49096-9C61-EB0D-C592-920A42F1097C}"/>
              </a:ext>
            </a:extLst>
          </p:cNvPr>
          <p:cNvSpPr>
            <a:spLocks noGrp="1"/>
          </p:cNvSpPr>
          <p:nvPr>
            <p:ph type="sldNum" sz="quarter" idx="12"/>
          </p:nvPr>
        </p:nvSpPr>
        <p:spPr/>
        <p:txBody>
          <a:bodyPr/>
          <a:lstStyle/>
          <a:p>
            <a:fld id="{196A61CA-0502-4EE4-9724-96EA822543E5}" type="slidenum">
              <a:rPr lang="en-US" dirty="0"/>
              <a:t>8</a:t>
            </a:fld>
            <a:endParaRPr lang="en-US" dirty="0"/>
          </a:p>
        </p:txBody>
      </p:sp>
    </p:spTree>
    <p:extLst>
      <p:ext uri="{BB962C8B-B14F-4D97-AF65-F5344CB8AC3E}">
        <p14:creationId xmlns:p14="http://schemas.microsoft.com/office/powerpoint/2010/main" val="4176469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5587-16CC-9A90-A5B1-1F56277D0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B0C80-DE8F-8F99-4937-0769821834A2}"/>
              </a:ext>
            </a:extLst>
          </p:cNvPr>
          <p:cNvSpPr>
            <a:spLocks noGrp="1"/>
          </p:cNvSpPr>
          <p:nvPr>
            <p:ph type="title"/>
          </p:nvPr>
        </p:nvSpPr>
        <p:spPr>
          <a:xfrm>
            <a:off x="319223" y="251411"/>
            <a:ext cx="9238434" cy="889592"/>
          </a:xfrm>
        </p:spPr>
        <p:txBody>
          <a:bodyPr/>
          <a:lstStyle/>
          <a:p>
            <a:r>
              <a:rPr lang="en-US" dirty="0"/>
              <a:t>CONFIG_INIT</a:t>
            </a:r>
          </a:p>
        </p:txBody>
      </p:sp>
      <p:sp>
        <p:nvSpPr>
          <p:cNvPr id="3" name="Content Placeholder 2">
            <a:extLst>
              <a:ext uri="{FF2B5EF4-FFF2-40B4-BE49-F238E27FC236}">
                <a16:creationId xmlns:a16="http://schemas.microsoft.com/office/drawing/2014/main" id="{D8A1F32B-DE38-EF16-FD00-2C9B82FDA851}"/>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err="1"/>
              <a:t>Config_init</a:t>
            </a:r>
            <a:r>
              <a:rPr lang="en-US" dirty="0"/>
              <a:t> or config initialization contains the python/</a:t>
            </a:r>
            <a:r>
              <a:rPr lang="en-US" dirty="0" err="1"/>
              <a:t>pyspark</a:t>
            </a:r>
            <a:r>
              <a:rPr lang="en-US" dirty="0"/>
              <a:t> modules, as well as global variables to be used by the other notebooks for our pipeline. All of the defined functions can also be found here. These functions are user defined processes that are used multiple times throughout different notebooks.</a:t>
            </a:r>
          </a:p>
        </p:txBody>
      </p:sp>
      <p:pic>
        <p:nvPicPr>
          <p:cNvPr id="8" name="Content Placeholder 7" descr="A screenshot of a computer program&#10;&#10;AI-generated content may be incorrect.">
            <a:extLst>
              <a:ext uri="{FF2B5EF4-FFF2-40B4-BE49-F238E27FC236}">
                <a16:creationId xmlns:a16="http://schemas.microsoft.com/office/drawing/2014/main" id="{2B406240-BA98-5434-119F-09C8FBFFB749}"/>
              </a:ext>
            </a:extLst>
          </p:cNvPr>
          <p:cNvPicPr>
            <a:picLocks noGrp="1" noChangeAspect="1"/>
          </p:cNvPicPr>
          <p:nvPr>
            <p:ph sz="half" idx="2"/>
          </p:nvPr>
        </p:nvPicPr>
        <p:blipFill>
          <a:blip r:embed="rId2"/>
          <a:stretch>
            <a:fillRect/>
          </a:stretch>
        </p:blipFill>
        <p:spPr>
          <a:xfrm>
            <a:off x="4811485" y="693770"/>
            <a:ext cx="6999514" cy="5570397"/>
          </a:xfrm>
          <a:prstGeom prst="rect">
            <a:avLst/>
          </a:prstGeom>
        </p:spPr>
      </p:pic>
      <p:sp>
        <p:nvSpPr>
          <p:cNvPr id="5" name="Date Placeholder 4">
            <a:extLst>
              <a:ext uri="{FF2B5EF4-FFF2-40B4-BE49-F238E27FC236}">
                <a16:creationId xmlns:a16="http://schemas.microsoft.com/office/drawing/2014/main" id="{A361AD97-65E3-E82D-8346-0E39417D405B}"/>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F5944214-C8EA-14DC-5BDC-452A825176B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2A7A8F7-2856-2A89-B5BA-168380E57CA1}"/>
              </a:ext>
            </a:extLst>
          </p:cNvPr>
          <p:cNvSpPr>
            <a:spLocks noGrp="1"/>
          </p:cNvSpPr>
          <p:nvPr>
            <p:ph type="sldNum" sz="quarter" idx="12"/>
          </p:nvPr>
        </p:nvSpPr>
        <p:spPr/>
        <p:txBody>
          <a:bodyPr/>
          <a:lstStyle/>
          <a:p>
            <a:fld id="{196A61CA-0502-4EE4-9724-96EA822543E5}" type="slidenum">
              <a:rPr lang="en-US" dirty="0"/>
              <a:t>9</a:t>
            </a:fld>
            <a:endParaRPr lang="en-US" dirty="0"/>
          </a:p>
        </p:txBody>
      </p:sp>
    </p:spTree>
    <p:extLst>
      <p:ext uri="{BB962C8B-B14F-4D97-AF65-F5344CB8AC3E}">
        <p14:creationId xmlns:p14="http://schemas.microsoft.com/office/powerpoint/2010/main" val="3248466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1129F-C9E5-A95A-4836-3E3C8A2F9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9B772-1383-5AA1-CCAB-622E5E4CEEF9}"/>
              </a:ext>
            </a:extLst>
          </p:cNvPr>
          <p:cNvSpPr>
            <a:spLocks noGrp="1"/>
          </p:cNvSpPr>
          <p:nvPr>
            <p:ph type="title"/>
          </p:nvPr>
        </p:nvSpPr>
        <p:spPr>
          <a:xfrm>
            <a:off x="319223" y="251411"/>
            <a:ext cx="9238434" cy="889592"/>
          </a:xfrm>
        </p:spPr>
        <p:txBody>
          <a:bodyPr/>
          <a:lstStyle/>
          <a:p>
            <a:r>
              <a:rPr lang="en-US" dirty="0"/>
              <a:t>CONFIG_SETUP</a:t>
            </a:r>
          </a:p>
        </p:txBody>
      </p:sp>
      <p:sp>
        <p:nvSpPr>
          <p:cNvPr id="3" name="Content Placeholder 2">
            <a:extLst>
              <a:ext uri="{FF2B5EF4-FFF2-40B4-BE49-F238E27FC236}">
                <a16:creationId xmlns:a16="http://schemas.microsoft.com/office/drawing/2014/main" id="{CFCF4D92-B6CD-9963-B491-071B8CFB46CD}"/>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err="1"/>
              <a:t>Config_setup</a:t>
            </a:r>
            <a:r>
              <a:rPr lang="en-US" dirty="0"/>
              <a:t> contains lists of predefined values that will be referenced by other notebooks in other job runs. These values will be inserted to a table called </a:t>
            </a:r>
            <a:r>
              <a:rPr lang="en-US" dirty="0" err="1"/>
              <a:t>configurations_table</a:t>
            </a:r>
            <a:r>
              <a:rPr lang="en-US" dirty="0"/>
              <a:t> and will be pulled into </a:t>
            </a:r>
            <a:r>
              <a:rPr lang="en-US" dirty="0" err="1"/>
              <a:t>dataframe</a:t>
            </a:r>
            <a:r>
              <a:rPr lang="en-US" dirty="0"/>
              <a:t> so that these values called and filtered to push down the correct variables to other notebooks.</a:t>
            </a:r>
          </a:p>
        </p:txBody>
      </p:sp>
      <p:sp>
        <p:nvSpPr>
          <p:cNvPr id="5" name="Date Placeholder 4">
            <a:extLst>
              <a:ext uri="{FF2B5EF4-FFF2-40B4-BE49-F238E27FC236}">
                <a16:creationId xmlns:a16="http://schemas.microsoft.com/office/drawing/2014/main" id="{A120176B-9DE3-B867-4E21-DD7E3B054BF9}"/>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DA1C0EB8-693F-7D8A-968E-CDA55FE991E3}"/>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610F6A7-EC93-66E5-7B98-FF72B7527946}"/>
              </a:ext>
            </a:extLst>
          </p:cNvPr>
          <p:cNvSpPr>
            <a:spLocks noGrp="1"/>
          </p:cNvSpPr>
          <p:nvPr>
            <p:ph type="sldNum" sz="quarter" idx="12"/>
          </p:nvPr>
        </p:nvSpPr>
        <p:spPr/>
        <p:txBody>
          <a:bodyPr/>
          <a:lstStyle/>
          <a:p>
            <a:fld id="{196A61CA-0502-4EE4-9724-96EA822543E5}" type="slidenum">
              <a:rPr lang="en-US" dirty="0"/>
              <a:t>10</a:t>
            </a:fld>
            <a:endParaRPr lang="en-US" dirty="0"/>
          </a:p>
        </p:txBody>
      </p:sp>
      <p:pic>
        <p:nvPicPr>
          <p:cNvPr id="11" name="Content Placeholder 10" descr="A screenshot of a computer&#10;&#10;AI-generated content may be incorrect.">
            <a:extLst>
              <a:ext uri="{FF2B5EF4-FFF2-40B4-BE49-F238E27FC236}">
                <a16:creationId xmlns:a16="http://schemas.microsoft.com/office/drawing/2014/main" id="{15264BA5-62A2-5DF9-94BA-E4CFF1368414}"/>
              </a:ext>
            </a:extLst>
          </p:cNvPr>
          <p:cNvPicPr>
            <a:picLocks noGrp="1" noChangeAspect="1"/>
          </p:cNvPicPr>
          <p:nvPr>
            <p:ph sz="half" idx="2"/>
          </p:nvPr>
        </p:nvPicPr>
        <p:blipFill>
          <a:blip r:embed="rId2"/>
          <a:stretch>
            <a:fillRect/>
          </a:stretch>
        </p:blipFill>
        <p:spPr>
          <a:xfrm>
            <a:off x="4942114" y="464681"/>
            <a:ext cx="7043057" cy="5876175"/>
          </a:xfrm>
          <a:prstGeom prst="rect">
            <a:avLst/>
          </a:prstGeom>
        </p:spPr>
      </p:pic>
    </p:spTree>
    <p:extLst>
      <p:ext uri="{BB962C8B-B14F-4D97-AF65-F5344CB8AC3E}">
        <p14:creationId xmlns:p14="http://schemas.microsoft.com/office/powerpoint/2010/main" val="2105484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8AC1-38F3-ECFD-1958-B86DB7022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93A98-3428-5E6D-9984-BCD287F5A696}"/>
              </a:ext>
            </a:extLst>
          </p:cNvPr>
          <p:cNvSpPr>
            <a:spLocks noGrp="1"/>
          </p:cNvSpPr>
          <p:nvPr>
            <p:ph type="title"/>
          </p:nvPr>
        </p:nvSpPr>
        <p:spPr>
          <a:xfrm>
            <a:off x="319223" y="251411"/>
            <a:ext cx="9238434" cy="889592"/>
          </a:xfrm>
        </p:spPr>
        <p:txBody>
          <a:bodyPr/>
          <a:lstStyle/>
          <a:p>
            <a:r>
              <a:rPr lang="en-US" dirty="0"/>
              <a:t>CONFIG_TABLES</a:t>
            </a:r>
          </a:p>
        </p:txBody>
      </p:sp>
      <p:sp>
        <p:nvSpPr>
          <p:cNvPr id="3" name="Content Placeholder 2">
            <a:extLst>
              <a:ext uri="{FF2B5EF4-FFF2-40B4-BE49-F238E27FC236}">
                <a16:creationId xmlns:a16="http://schemas.microsoft.com/office/drawing/2014/main" id="{A82EE26C-5511-C904-FFC1-E0443B87ED60}"/>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err="1"/>
              <a:t>Config_tables</a:t>
            </a:r>
            <a:r>
              <a:rPr lang="en-US" dirty="0"/>
              <a:t> contain SQL queries that create all the catalog tables to be used for the pipeline. </a:t>
            </a:r>
          </a:p>
        </p:txBody>
      </p:sp>
      <p:sp>
        <p:nvSpPr>
          <p:cNvPr id="5" name="Date Placeholder 4">
            <a:extLst>
              <a:ext uri="{FF2B5EF4-FFF2-40B4-BE49-F238E27FC236}">
                <a16:creationId xmlns:a16="http://schemas.microsoft.com/office/drawing/2014/main" id="{7542B4D4-4CF4-C38B-3E4E-D6C0EC692FF3}"/>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6197ABA0-9252-C45E-1DAF-08134398CC85}"/>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8786C93-4CBB-AF34-8A18-6EF2A4AE5CA0}"/>
              </a:ext>
            </a:extLst>
          </p:cNvPr>
          <p:cNvSpPr>
            <a:spLocks noGrp="1"/>
          </p:cNvSpPr>
          <p:nvPr>
            <p:ph type="sldNum" sz="quarter" idx="12"/>
          </p:nvPr>
        </p:nvSpPr>
        <p:spPr/>
        <p:txBody>
          <a:bodyPr/>
          <a:lstStyle/>
          <a:p>
            <a:fld id="{196A61CA-0502-4EE4-9724-96EA822543E5}" type="slidenum">
              <a:rPr lang="en-US" dirty="0"/>
              <a:t>11</a:t>
            </a:fld>
            <a:endParaRPr lang="en-US" dirty="0"/>
          </a:p>
        </p:txBody>
      </p:sp>
      <p:pic>
        <p:nvPicPr>
          <p:cNvPr id="11" name="Content Placeholder 10" descr="A screenshot of a computer&#10;&#10;AI-generated content may be incorrect.">
            <a:extLst>
              <a:ext uri="{FF2B5EF4-FFF2-40B4-BE49-F238E27FC236}">
                <a16:creationId xmlns:a16="http://schemas.microsoft.com/office/drawing/2014/main" id="{91D06486-AE7D-A059-6080-7FD15268557F}"/>
              </a:ext>
            </a:extLst>
          </p:cNvPr>
          <p:cNvPicPr>
            <a:picLocks noGrp="1" noChangeAspect="1"/>
          </p:cNvPicPr>
          <p:nvPr>
            <p:ph sz="half" idx="2"/>
          </p:nvPr>
        </p:nvPicPr>
        <p:blipFill>
          <a:blip r:embed="rId2"/>
          <a:stretch>
            <a:fillRect/>
          </a:stretch>
        </p:blipFill>
        <p:spPr>
          <a:xfrm>
            <a:off x="4942114" y="464681"/>
            <a:ext cx="7043057" cy="5876175"/>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1890A98B-4C3E-F64E-73CF-5CDD7DAB5786}"/>
              </a:ext>
            </a:extLst>
          </p:cNvPr>
          <p:cNvPicPr>
            <a:picLocks noChangeAspect="1"/>
          </p:cNvPicPr>
          <p:nvPr/>
        </p:nvPicPr>
        <p:blipFill>
          <a:blip r:embed="rId3"/>
          <a:stretch>
            <a:fillRect/>
          </a:stretch>
        </p:blipFill>
        <p:spPr>
          <a:xfrm>
            <a:off x="4936740" y="250371"/>
            <a:ext cx="7053805" cy="6128658"/>
          </a:xfrm>
          <a:prstGeom prst="rect">
            <a:avLst/>
          </a:prstGeom>
        </p:spPr>
      </p:pic>
    </p:spTree>
    <p:extLst>
      <p:ext uri="{BB962C8B-B14F-4D97-AF65-F5344CB8AC3E}">
        <p14:creationId xmlns:p14="http://schemas.microsoft.com/office/powerpoint/2010/main" val="2878747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48CBD-82B5-F3F2-E1DD-9B03114F1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7A80A-0024-E7FC-8DAB-22256843ED87}"/>
              </a:ext>
            </a:extLst>
          </p:cNvPr>
          <p:cNvSpPr>
            <a:spLocks noGrp="1"/>
          </p:cNvSpPr>
          <p:nvPr>
            <p:ph type="title"/>
          </p:nvPr>
        </p:nvSpPr>
        <p:spPr/>
        <p:txBody>
          <a:bodyPr/>
          <a:lstStyle/>
          <a:p>
            <a:r>
              <a:rPr lang="en-US" dirty="0"/>
              <a:t>BRONZE</a:t>
            </a:r>
          </a:p>
        </p:txBody>
      </p:sp>
      <p:sp>
        <p:nvSpPr>
          <p:cNvPr id="3" name="Content Placeholder 2">
            <a:extLst>
              <a:ext uri="{FF2B5EF4-FFF2-40B4-BE49-F238E27FC236}">
                <a16:creationId xmlns:a16="http://schemas.microsoft.com/office/drawing/2014/main" id="{01346608-F69F-C3DD-5049-0A1F75F3507A}"/>
              </a:ext>
            </a:extLst>
          </p:cNvPr>
          <p:cNvSpPr>
            <a:spLocks noGrp="1"/>
          </p:cNvSpPr>
          <p:nvPr>
            <p:ph sz="half" idx="1"/>
          </p:nvPr>
        </p:nvSpPr>
        <p:spPr/>
        <p:txBody>
          <a:bodyPr vert="horz" lIns="91440" tIns="45720" rIns="91440" bIns="45720" rtlCol="0" anchor="t">
            <a:normAutofit/>
          </a:bodyPr>
          <a:lstStyle/>
          <a:p>
            <a:r>
              <a:rPr lang="en-US" dirty="0"/>
              <a:t>The bronze part contains the notebooks that will move our raw files from IN folder to TODO folder. IN folder is the default landing folder when we receive the raw files and TODO folder is the folder for the files we want to undergo the ETL process. Data from these raw files will be ingested into bronze tables and after ingesting, the raw files will be archived for safekeeping.</a:t>
            </a:r>
          </a:p>
        </p:txBody>
      </p:sp>
      <p:sp>
        <p:nvSpPr>
          <p:cNvPr id="5" name="Date Placeholder 4">
            <a:extLst>
              <a:ext uri="{FF2B5EF4-FFF2-40B4-BE49-F238E27FC236}">
                <a16:creationId xmlns:a16="http://schemas.microsoft.com/office/drawing/2014/main" id="{56CF58DE-7257-AD2E-66A2-8B94F3859DDA}"/>
              </a:ext>
            </a:extLst>
          </p:cNvPr>
          <p:cNvSpPr>
            <a:spLocks noGrp="1"/>
          </p:cNvSpPr>
          <p:nvPr>
            <p:ph type="dt" sz="half" idx="10"/>
          </p:nvPr>
        </p:nvSpPr>
        <p:spPr/>
        <p:txBody>
          <a:bodyPr/>
          <a:lstStyle/>
          <a:p>
            <a:fld id="{9EF6C93B-41BA-45CC-9595-730922C604F7}" type="datetime1">
              <a:t>8/30/2025</a:t>
            </a:fld>
            <a:endParaRPr lang="en-US" dirty="0"/>
          </a:p>
        </p:txBody>
      </p:sp>
      <p:sp>
        <p:nvSpPr>
          <p:cNvPr id="6" name="Footer Placeholder 5">
            <a:extLst>
              <a:ext uri="{FF2B5EF4-FFF2-40B4-BE49-F238E27FC236}">
                <a16:creationId xmlns:a16="http://schemas.microsoft.com/office/drawing/2014/main" id="{193FA7BC-D828-F936-BB13-5D4562DBCDA4}"/>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75EF710-59BA-5068-6A06-5595A1555CAC}"/>
              </a:ext>
            </a:extLst>
          </p:cNvPr>
          <p:cNvSpPr>
            <a:spLocks noGrp="1"/>
          </p:cNvSpPr>
          <p:nvPr>
            <p:ph type="sldNum" sz="quarter" idx="12"/>
          </p:nvPr>
        </p:nvSpPr>
        <p:spPr/>
        <p:txBody>
          <a:bodyPr/>
          <a:lstStyle/>
          <a:p>
            <a:fld id="{196A61CA-0502-4EE4-9724-96EA822543E5}" type="slidenum">
              <a:rPr lang="en-US" dirty="0"/>
              <a:t>12</a:t>
            </a:fld>
            <a:endParaRPr lang="en-US" dirty="0"/>
          </a:p>
        </p:txBody>
      </p:sp>
      <p:pic>
        <p:nvPicPr>
          <p:cNvPr id="10" name="Content Placeholder 9" descr="A screenshot of a computer&#10;&#10;AI-generated content may be incorrect.">
            <a:extLst>
              <a:ext uri="{FF2B5EF4-FFF2-40B4-BE49-F238E27FC236}">
                <a16:creationId xmlns:a16="http://schemas.microsoft.com/office/drawing/2014/main" id="{93F7E5D6-0D85-16AE-BC41-EF4ED085F465}"/>
              </a:ext>
            </a:extLst>
          </p:cNvPr>
          <p:cNvPicPr>
            <a:picLocks noGrp="1" noChangeAspect="1"/>
          </p:cNvPicPr>
          <p:nvPr>
            <p:ph sz="half" idx="2"/>
          </p:nvPr>
        </p:nvPicPr>
        <p:blipFill>
          <a:blip r:embed="rId2"/>
          <a:stretch>
            <a:fillRect/>
          </a:stretch>
        </p:blipFill>
        <p:spPr>
          <a:xfrm>
            <a:off x="6640964" y="2429857"/>
            <a:ext cx="4517571" cy="2435678"/>
          </a:xfrm>
          <a:prstGeom prst="rect">
            <a:avLst/>
          </a:prstGeom>
        </p:spPr>
      </p:pic>
    </p:spTree>
    <p:extLst>
      <p:ext uri="{BB962C8B-B14F-4D97-AF65-F5344CB8AC3E}">
        <p14:creationId xmlns:p14="http://schemas.microsoft.com/office/powerpoint/2010/main" val="682188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5C9F5-3BB7-D3C5-D516-9044D68C7EBF}"/>
              </a:ext>
            </a:extLst>
          </p:cNvPr>
          <p:cNvSpPr>
            <a:spLocks noGrp="1"/>
          </p:cNvSpPr>
          <p:nvPr>
            <p:ph type="title"/>
          </p:nvPr>
        </p:nvSpPr>
        <p:spPr>
          <a:xfrm>
            <a:off x="319223" y="251411"/>
            <a:ext cx="9238434" cy="889592"/>
          </a:xfrm>
        </p:spPr>
        <p:txBody>
          <a:bodyPr/>
          <a:lstStyle/>
          <a:p>
            <a:r>
              <a:rPr lang="en-US" dirty="0"/>
              <a:t>BRONZE</a:t>
            </a:r>
          </a:p>
        </p:txBody>
      </p:sp>
      <p:sp>
        <p:nvSpPr>
          <p:cNvPr id="3" name="Content Placeholder 2">
            <a:extLst>
              <a:ext uri="{FF2B5EF4-FFF2-40B4-BE49-F238E27FC236}">
                <a16:creationId xmlns:a16="http://schemas.microsoft.com/office/drawing/2014/main" id="{608252B2-7AEE-4F71-87C8-5C427A32C1B5}"/>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a:t>Starting from 00_files_landing, you will see widgets being created. These widgets will be utilized by each notebook to identify and separate each single instance of job run and task run for every time we run our pipeline, to be used by the developers to identify each separate run. In 00_files_landing, the notebooks in IN folder will be moved to TODO for ETL processing.</a:t>
            </a:r>
          </a:p>
        </p:txBody>
      </p:sp>
      <p:sp>
        <p:nvSpPr>
          <p:cNvPr id="5" name="Date Placeholder 4">
            <a:extLst>
              <a:ext uri="{FF2B5EF4-FFF2-40B4-BE49-F238E27FC236}">
                <a16:creationId xmlns:a16="http://schemas.microsoft.com/office/drawing/2014/main" id="{C8C6CEAB-2995-4B55-9701-0B3744130D29}"/>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699C7C29-A4FB-80A6-CE89-BB9B0A4E555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043AC08-22A1-331E-2FB8-DC61F38D14C1}"/>
              </a:ext>
            </a:extLst>
          </p:cNvPr>
          <p:cNvSpPr>
            <a:spLocks noGrp="1"/>
          </p:cNvSpPr>
          <p:nvPr>
            <p:ph type="sldNum" sz="quarter" idx="12"/>
          </p:nvPr>
        </p:nvSpPr>
        <p:spPr/>
        <p:txBody>
          <a:bodyPr/>
          <a:lstStyle/>
          <a:p>
            <a:fld id="{196A61CA-0502-4EE4-9724-96EA822543E5}" type="slidenum">
              <a:rPr lang="en-US" dirty="0"/>
              <a:t>13</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741C1861-2C4D-6020-71B5-811E0CA0CABF}"/>
              </a:ext>
            </a:extLst>
          </p:cNvPr>
          <p:cNvPicPr>
            <a:picLocks noChangeAspect="1"/>
          </p:cNvPicPr>
          <p:nvPr/>
        </p:nvPicPr>
        <p:blipFill>
          <a:blip r:embed="rId2"/>
          <a:stretch>
            <a:fillRect/>
          </a:stretch>
        </p:blipFill>
        <p:spPr>
          <a:xfrm>
            <a:off x="4813359" y="457199"/>
            <a:ext cx="6995767" cy="5943601"/>
          </a:xfrm>
          <a:prstGeom prst="rect">
            <a:avLst/>
          </a:prstGeom>
        </p:spPr>
      </p:pic>
    </p:spTree>
    <p:extLst>
      <p:ext uri="{BB962C8B-B14F-4D97-AF65-F5344CB8AC3E}">
        <p14:creationId xmlns:p14="http://schemas.microsoft.com/office/powerpoint/2010/main" val="3672769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98245-59D9-8E2E-D79F-9162BB4BB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9257C-6DBE-9E8F-D3DC-E06B3D6F40EA}"/>
              </a:ext>
            </a:extLst>
          </p:cNvPr>
          <p:cNvSpPr>
            <a:spLocks noGrp="1"/>
          </p:cNvSpPr>
          <p:nvPr>
            <p:ph type="title"/>
          </p:nvPr>
        </p:nvSpPr>
        <p:spPr>
          <a:xfrm>
            <a:off x="319223" y="251411"/>
            <a:ext cx="9238434" cy="889592"/>
          </a:xfrm>
        </p:spPr>
        <p:txBody>
          <a:bodyPr/>
          <a:lstStyle/>
          <a:p>
            <a:r>
              <a:rPr lang="en-US" dirty="0"/>
              <a:t>BRONZE</a:t>
            </a:r>
          </a:p>
        </p:txBody>
      </p:sp>
      <p:sp>
        <p:nvSpPr>
          <p:cNvPr id="3" name="Content Placeholder 2">
            <a:extLst>
              <a:ext uri="{FF2B5EF4-FFF2-40B4-BE49-F238E27FC236}">
                <a16:creationId xmlns:a16="http://schemas.microsoft.com/office/drawing/2014/main" id="{D14278A0-9333-1FBF-4E8D-717A8D52E552}"/>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a:t>In 01_ingest, the data from the raw files will be ingested to the bronze tables in the bronze schema of our </a:t>
            </a:r>
            <a:r>
              <a:rPr lang="en-US" dirty="0" err="1"/>
              <a:t>medisure</a:t>
            </a:r>
            <a:r>
              <a:rPr lang="en-US" dirty="0"/>
              <a:t> catalog. To ensure dynamic ingestion, we make use of the variables in </a:t>
            </a:r>
            <a:r>
              <a:rPr lang="en-US" dirty="0" err="1"/>
              <a:t>configurations_table</a:t>
            </a:r>
            <a:r>
              <a:rPr lang="en-US" dirty="0"/>
              <a:t> to ensure the source and target tables are aligned, as well as the filetype to be ingested is correctly processed.</a:t>
            </a:r>
          </a:p>
        </p:txBody>
      </p:sp>
      <p:sp>
        <p:nvSpPr>
          <p:cNvPr id="5" name="Date Placeholder 4">
            <a:extLst>
              <a:ext uri="{FF2B5EF4-FFF2-40B4-BE49-F238E27FC236}">
                <a16:creationId xmlns:a16="http://schemas.microsoft.com/office/drawing/2014/main" id="{0CAEC366-DA57-0E41-C277-AF8EE5B3352D}"/>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5871C01F-D7FD-A10C-5295-5D82686353D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987C8F5-45DB-95DA-F04B-67B6CED49B61}"/>
              </a:ext>
            </a:extLst>
          </p:cNvPr>
          <p:cNvSpPr>
            <a:spLocks noGrp="1"/>
          </p:cNvSpPr>
          <p:nvPr>
            <p:ph type="sldNum" sz="quarter" idx="12"/>
          </p:nvPr>
        </p:nvSpPr>
        <p:spPr/>
        <p:txBody>
          <a:bodyPr/>
          <a:lstStyle/>
          <a:p>
            <a:fld id="{196A61CA-0502-4EE4-9724-96EA822543E5}" type="slidenum">
              <a:rPr lang="en-US" dirty="0"/>
              <a:t>14</a:t>
            </a:fld>
            <a:endParaRPr lang="en-US" dirty="0"/>
          </a:p>
        </p:txBody>
      </p:sp>
      <p:pic>
        <p:nvPicPr>
          <p:cNvPr id="8" name="Picture 7" descr="A screenshot of a computer program&#10;&#10;AI-generated content may be incorrect.">
            <a:extLst>
              <a:ext uri="{FF2B5EF4-FFF2-40B4-BE49-F238E27FC236}">
                <a16:creationId xmlns:a16="http://schemas.microsoft.com/office/drawing/2014/main" id="{82FE9681-317C-A700-431C-9CD2D09F1C9A}"/>
              </a:ext>
            </a:extLst>
          </p:cNvPr>
          <p:cNvPicPr>
            <a:picLocks noChangeAspect="1"/>
          </p:cNvPicPr>
          <p:nvPr/>
        </p:nvPicPr>
        <p:blipFill>
          <a:blip r:embed="rId2"/>
          <a:stretch>
            <a:fillRect/>
          </a:stretch>
        </p:blipFill>
        <p:spPr>
          <a:xfrm>
            <a:off x="4812870" y="457200"/>
            <a:ext cx="7170918" cy="5965372"/>
          </a:xfrm>
          <a:prstGeom prst="rect">
            <a:avLst/>
          </a:prstGeom>
        </p:spPr>
      </p:pic>
    </p:spTree>
    <p:extLst>
      <p:ext uri="{BB962C8B-B14F-4D97-AF65-F5344CB8AC3E}">
        <p14:creationId xmlns:p14="http://schemas.microsoft.com/office/powerpoint/2010/main" val="3028288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F0666-0364-1F8E-7F75-A022E9833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82A18-C284-95E4-357E-DB5B740DE94A}"/>
              </a:ext>
            </a:extLst>
          </p:cNvPr>
          <p:cNvSpPr>
            <a:spLocks noGrp="1"/>
          </p:cNvSpPr>
          <p:nvPr>
            <p:ph type="title"/>
          </p:nvPr>
        </p:nvSpPr>
        <p:spPr>
          <a:xfrm>
            <a:off x="319223" y="251411"/>
            <a:ext cx="9238434" cy="889592"/>
          </a:xfrm>
        </p:spPr>
        <p:txBody>
          <a:bodyPr/>
          <a:lstStyle/>
          <a:p>
            <a:r>
              <a:rPr lang="en-US" dirty="0"/>
              <a:t>BRONZE</a:t>
            </a:r>
          </a:p>
        </p:txBody>
      </p:sp>
      <p:sp>
        <p:nvSpPr>
          <p:cNvPr id="3" name="Content Placeholder 2">
            <a:extLst>
              <a:ext uri="{FF2B5EF4-FFF2-40B4-BE49-F238E27FC236}">
                <a16:creationId xmlns:a16="http://schemas.microsoft.com/office/drawing/2014/main" id="{88866875-A7EF-C98F-C177-AEF1249666AD}"/>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a:t>In 02_archive, when the raw files are done processing, they will be moved into the ARCHIVE folder.</a:t>
            </a:r>
          </a:p>
        </p:txBody>
      </p:sp>
      <p:sp>
        <p:nvSpPr>
          <p:cNvPr id="5" name="Date Placeholder 4">
            <a:extLst>
              <a:ext uri="{FF2B5EF4-FFF2-40B4-BE49-F238E27FC236}">
                <a16:creationId xmlns:a16="http://schemas.microsoft.com/office/drawing/2014/main" id="{B7F40DAB-D332-98C9-23F3-C767EC7AB9AF}"/>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1F81AD84-514F-ECAA-1109-929D764F9FD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C3D1C7E-0980-ACCB-527A-35BA9B9DE0F0}"/>
              </a:ext>
            </a:extLst>
          </p:cNvPr>
          <p:cNvSpPr>
            <a:spLocks noGrp="1"/>
          </p:cNvSpPr>
          <p:nvPr>
            <p:ph type="sldNum" sz="quarter" idx="12"/>
          </p:nvPr>
        </p:nvSpPr>
        <p:spPr/>
        <p:txBody>
          <a:bodyPr/>
          <a:lstStyle/>
          <a:p>
            <a:fld id="{196A61CA-0502-4EE4-9724-96EA822543E5}" type="slidenum">
              <a:rPr lang="en-US" dirty="0"/>
              <a:t>15</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211DC324-5597-150D-7FF2-F13E4A4C2DFE}"/>
              </a:ext>
            </a:extLst>
          </p:cNvPr>
          <p:cNvPicPr>
            <a:picLocks noChangeAspect="1"/>
          </p:cNvPicPr>
          <p:nvPr/>
        </p:nvPicPr>
        <p:blipFill>
          <a:blip r:embed="rId2"/>
          <a:stretch>
            <a:fillRect/>
          </a:stretch>
        </p:blipFill>
        <p:spPr>
          <a:xfrm>
            <a:off x="4808988" y="576941"/>
            <a:ext cx="7004509" cy="5715001"/>
          </a:xfrm>
          <a:prstGeom prst="rect">
            <a:avLst/>
          </a:prstGeom>
        </p:spPr>
      </p:pic>
    </p:spTree>
    <p:extLst>
      <p:ext uri="{BB962C8B-B14F-4D97-AF65-F5344CB8AC3E}">
        <p14:creationId xmlns:p14="http://schemas.microsoft.com/office/powerpoint/2010/main" val="2183836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0B39B-0FA8-4289-F510-77DF6022F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FB616-BF23-722D-2FD2-5AFBB72EE018}"/>
              </a:ext>
            </a:extLst>
          </p:cNvPr>
          <p:cNvSpPr>
            <a:spLocks noGrp="1"/>
          </p:cNvSpPr>
          <p:nvPr>
            <p:ph type="title"/>
          </p:nvPr>
        </p:nvSpPr>
        <p:spPr/>
        <p:txBody>
          <a:bodyPr/>
          <a:lstStyle/>
          <a:p>
            <a:r>
              <a:rPr lang="en-US" dirty="0"/>
              <a:t>SILVER</a:t>
            </a:r>
          </a:p>
        </p:txBody>
      </p:sp>
      <p:sp>
        <p:nvSpPr>
          <p:cNvPr id="3" name="Content Placeholder 2">
            <a:extLst>
              <a:ext uri="{FF2B5EF4-FFF2-40B4-BE49-F238E27FC236}">
                <a16:creationId xmlns:a16="http://schemas.microsoft.com/office/drawing/2014/main" id="{38A2C2B9-171C-A9F5-6D58-E8B5E9485025}"/>
              </a:ext>
            </a:extLst>
          </p:cNvPr>
          <p:cNvSpPr>
            <a:spLocks noGrp="1"/>
          </p:cNvSpPr>
          <p:nvPr>
            <p:ph sz="half" idx="1"/>
          </p:nvPr>
        </p:nvSpPr>
        <p:spPr/>
        <p:txBody>
          <a:bodyPr vert="horz" lIns="91440" tIns="45720" rIns="91440" bIns="45720" rtlCol="0" anchor="t">
            <a:normAutofit lnSpcReduction="10000"/>
          </a:bodyPr>
          <a:lstStyle/>
          <a:p>
            <a:r>
              <a:rPr lang="en-US" dirty="0"/>
              <a:t>The silver part, by default, will only contain the 00_clean portion where data from the bronze tables will be clean (deduplication of rows, casting to correct schema, dropping of null rows) then inserted (either overwrite/replace/append) to the silver tables. Any transform notebook will be done as required by the client. For this case, one example is prepared in the form of 01_transform_claims_batch.</a:t>
            </a:r>
          </a:p>
        </p:txBody>
      </p:sp>
      <p:sp>
        <p:nvSpPr>
          <p:cNvPr id="5" name="Date Placeholder 4">
            <a:extLst>
              <a:ext uri="{FF2B5EF4-FFF2-40B4-BE49-F238E27FC236}">
                <a16:creationId xmlns:a16="http://schemas.microsoft.com/office/drawing/2014/main" id="{410FC166-AFC3-7195-F275-546A4F4E3216}"/>
              </a:ext>
            </a:extLst>
          </p:cNvPr>
          <p:cNvSpPr>
            <a:spLocks noGrp="1"/>
          </p:cNvSpPr>
          <p:nvPr>
            <p:ph type="dt" sz="half" idx="10"/>
          </p:nvPr>
        </p:nvSpPr>
        <p:spPr/>
        <p:txBody>
          <a:bodyPr/>
          <a:lstStyle/>
          <a:p>
            <a:fld id="{9EF6C93B-41BA-45CC-9595-730922C604F7}" type="datetime1">
              <a:t>8/30/2025</a:t>
            </a:fld>
            <a:endParaRPr lang="en-US" dirty="0"/>
          </a:p>
        </p:txBody>
      </p:sp>
      <p:sp>
        <p:nvSpPr>
          <p:cNvPr id="6" name="Footer Placeholder 5">
            <a:extLst>
              <a:ext uri="{FF2B5EF4-FFF2-40B4-BE49-F238E27FC236}">
                <a16:creationId xmlns:a16="http://schemas.microsoft.com/office/drawing/2014/main" id="{EEEC143B-FDED-56C6-D156-DDCA716E08F4}"/>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4615D4E6-ED7D-8186-A404-A7CC1E5ED30E}"/>
              </a:ext>
            </a:extLst>
          </p:cNvPr>
          <p:cNvSpPr>
            <a:spLocks noGrp="1"/>
          </p:cNvSpPr>
          <p:nvPr>
            <p:ph type="sldNum" sz="quarter" idx="12"/>
          </p:nvPr>
        </p:nvSpPr>
        <p:spPr/>
        <p:txBody>
          <a:bodyPr/>
          <a:lstStyle/>
          <a:p>
            <a:fld id="{196A61CA-0502-4EE4-9724-96EA822543E5}" type="slidenum">
              <a:rPr lang="en-US" dirty="0"/>
              <a:t>16</a:t>
            </a:fld>
            <a:endParaRPr lang="en-US" dirty="0"/>
          </a:p>
        </p:txBody>
      </p:sp>
      <p:pic>
        <p:nvPicPr>
          <p:cNvPr id="10" name="Content Placeholder 9" descr="A screenshot of a computer&#10;&#10;AI-generated content may be incorrect.">
            <a:extLst>
              <a:ext uri="{FF2B5EF4-FFF2-40B4-BE49-F238E27FC236}">
                <a16:creationId xmlns:a16="http://schemas.microsoft.com/office/drawing/2014/main" id="{A5ED38DB-962A-9478-7266-0CB481076F0B}"/>
              </a:ext>
            </a:extLst>
          </p:cNvPr>
          <p:cNvPicPr>
            <a:picLocks noGrp="1" noChangeAspect="1"/>
          </p:cNvPicPr>
          <p:nvPr>
            <p:ph sz="half" idx="2"/>
          </p:nvPr>
        </p:nvPicPr>
        <p:blipFill>
          <a:blip r:embed="rId2"/>
          <a:stretch>
            <a:fillRect/>
          </a:stretch>
        </p:blipFill>
        <p:spPr>
          <a:xfrm>
            <a:off x="6640964" y="2429857"/>
            <a:ext cx="4517571" cy="2435678"/>
          </a:xfrm>
          <a:prstGeom prst="rect">
            <a:avLst/>
          </a:prstGeom>
        </p:spPr>
      </p:pic>
      <p:pic>
        <p:nvPicPr>
          <p:cNvPr id="4" name="Picture 3" descr="A black background with white text&#10;&#10;AI-generated content may be incorrect.">
            <a:extLst>
              <a:ext uri="{FF2B5EF4-FFF2-40B4-BE49-F238E27FC236}">
                <a16:creationId xmlns:a16="http://schemas.microsoft.com/office/drawing/2014/main" id="{1B28A3AC-6410-91A0-3B1B-78DA0E4AFF83}"/>
              </a:ext>
            </a:extLst>
          </p:cNvPr>
          <p:cNvPicPr>
            <a:picLocks noChangeAspect="1"/>
          </p:cNvPicPr>
          <p:nvPr/>
        </p:nvPicPr>
        <p:blipFill>
          <a:blip r:embed="rId3"/>
          <a:stretch>
            <a:fillRect/>
          </a:stretch>
        </p:blipFill>
        <p:spPr>
          <a:xfrm>
            <a:off x="6642327" y="2430236"/>
            <a:ext cx="4513489" cy="2432956"/>
          </a:xfrm>
          <a:prstGeom prst="rect">
            <a:avLst/>
          </a:prstGeom>
        </p:spPr>
      </p:pic>
    </p:spTree>
    <p:extLst>
      <p:ext uri="{BB962C8B-B14F-4D97-AF65-F5344CB8AC3E}">
        <p14:creationId xmlns:p14="http://schemas.microsoft.com/office/powerpoint/2010/main" val="813734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00816-5347-13A4-2533-752597717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8D8A5-F69C-E280-3CB8-6B0CA7EE6845}"/>
              </a:ext>
            </a:extLst>
          </p:cNvPr>
          <p:cNvSpPr>
            <a:spLocks noGrp="1"/>
          </p:cNvSpPr>
          <p:nvPr>
            <p:ph type="title"/>
          </p:nvPr>
        </p:nvSpPr>
        <p:spPr>
          <a:xfrm>
            <a:off x="319223" y="251411"/>
            <a:ext cx="9238434" cy="889592"/>
          </a:xfrm>
        </p:spPr>
        <p:txBody>
          <a:bodyPr/>
          <a:lstStyle/>
          <a:p>
            <a:r>
              <a:rPr lang="en-US" dirty="0"/>
              <a:t>Silver</a:t>
            </a:r>
          </a:p>
        </p:txBody>
      </p:sp>
      <p:sp>
        <p:nvSpPr>
          <p:cNvPr id="3" name="Content Placeholder 2">
            <a:extLst>
              <a:ext uri="{FF2B5EF4-FFF2-40B4-BE49-F238E27FC236}">
                <a16:creationId xmlns:a16="http://schemas.microsoft.com/office/drawing/2014/main" id="{FD5EE02C-6678-A520-F2EB-10185C3A39B9}"/>
              </a:ext>
            </a:extLst>
          </p:cNvPr>
          <p:cNvSpPr>
            <a:spLocks noGrp="1"/>
          </p:cNvSpPr>
          <p:nvPr>
            <p:ph sz="half" idx="1"/>
          </p:nvPr>
        </p:nvSpPr>
        <p:spPr>
          <a:xfrm>
            <a:off x="319223" y="1242936"/>
            <a:ext cx="4495800" cy="3960435"/>
          </a:xfrm>
        </p:spPr>
        <p:txBody>
          <a:bodyPr vert="horz" lIns="91440" tIns="45720" rIns="91440" bIns="45720" rtlCol="0" anchor="t">
            <a:normAutofit/>
          </a:bodyPr>
          <a:lstStyle/>
          <a:p>
            <a:r>
              <a:rPr lang="en-US" dirty="0"/>
              <a:t>In 00_clean, data from bronze tables will be cleaned. When cleaning this data, we also consider the correct schema, which is defined by what datatypes are used by the silver table. Rows that do not follow the schema will be dropped in </a:t>
            </a:r>
            <a:r>
              <a:rPr lang="en-US" dirty="0" err="1"/>
              <a:t>dataframe</a:t>
            </a:r>
            <a:r>
              <a:rPr lang="en-US" dirty="0"/>
              <a:t> before insertion to silver. The same is true for duplicate rows and null rows.</a:t>
            </a:r>
          </a:p>
        </p:txBody>
      </p:sp>
      <p:sp>
        <p:nvSpPr>
          <p:cNvPr id="5" name="Date Placeholder 4">
            <a:extLst>
              <a:ext uri="{FF2B5EF4-FFF2-40B4-BE49-F238E27FC236}">
                <a16:creationId xmlns:a16="http://schemas.microsoft.com/office/drawing/2014/main" id="{C5B0BB23-B957-C67D-1D25-A2585E2DC4D8}"/>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163E1233-0A18-CED1-8C3A-923414A3874B}"/>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E0D923-BF61-D88A-68D9-57F6F71FBDA1}"/>
              </a:ext>
            </a:extLst>
          </p:cNvPr>
          <p:cNvSpPr>
            <a:spLocks noGrp="1"/>
          </p:cNvSpPr>
          <p:nvPr>
            <p:ph type="sldNum" sz="quarter" idx="12"/>
          </p:nvPr>
        </p:nvSpPr>
        <p:spPr/>
        <p:txBody>
          <a:bodyPr/>
          <a:lstStyle/>
          <a:p>
            <a:fld id="{196A61CA-0502-4EE4-9724-96EA822543E5}" type="slidenum">
              <a:rPr lang="en-US" dirty="0"/>
              <a:t>17</a:t>
            </a:fld>
            <a:endParaRPr lang="en-US" dirty="0"/>
          </a:p>
        </p:txBody>
      </p:sp>
      <p:pic>
        <p:nvPicPr>
          <p:cNvPr id="8" name="Picture 7" descr="A screenshot of a computer program&#10;&#10;AI-generated content may be incorrect.">
            <a:extLst>
              <a:ext uri="{FF2B5EF4-FFF2-40B4-BE49-F238E27FC236}">
                <a16:creationId xmlns:a16="http://schemas.microsoft.com/office/drawing/2014/main" id="{9718A39A-9D79-4368-FB56-5D5E3D71FD92}"/>
              </a:ext>
            </a:extLst>
          </p:cNvPr>
          <p:cNvPicPr>
            <a:picLocks noChangeAspect="1"/>
          </p:cNvPicPr>
          <p:nvPr/>
        </p:nvPicPr>
        <p:blipFill>
          <a:blip r:embed="rId2"/>
          <a:stretch>
            <a:fillRect/>
          </a:stretch>
        </p:blipFill>
        <p:spPr>
          <a:xfrm>
            <a:off x="4935758" y="566057"/>
            <a:ext cx="7044882" cy="5856515"/>
          </a:xfrm>
          <a:prstGeom prst="rect">
            <a:avLst/>
          </a:prstGeom>
        </p:spPr>
      </p:pic>
    </p:spTree>
    <p:extLst>
      <p:ext uri="{BB962C8B-B14F-4D97-AF65-F5344CB8AC3E}">
        <p14:creationId xmlns:p14="http://schemas.microsoft.com/office/powerpoint/2010/main" val="2015903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C216-B2B1-E193-D6CC-8A47DFA14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C5369-2BC4-B449-C13C-A644D04CF637}"/>
              </a:ext>
            </a:extLst>
          </p:cNvPr>
          <p:cNvSpPr>
            <a:spLocks noGrp="1"/>
          </p:cNvSpPr>
          <p:nvPr>
            <p:ph type="title"/>
          </p:nvPr>
        </p:nvSpPr>
        <p:spPr>
          <a:xfrm>
            <a:off x="319223" y="251411"/>
            <a:ext cx="9238434" cy="889592"/>
          </a:xfrm>
        </p:spPr>
        <p:txBody>
          <a:bodyPr/>
          <a:lstStyle/>
          <a:p>
            <a:r>
              <a:rPr lang="en-US" dirty="0"/>
              <a:t>Silver</a:t>
            </a:r>
          </a:p>
        </p:txBody>
      </p:sp>
      <p:sp>
        <p:nvSpPr>
          <p:cNvPr id="3" name="Content Placeholder 2">
            <a:extLst>
              <a:ext uri="{FF2B5EF4-FFF2-40B4-BE49-F238E27FC236}">
                <a16:creationId xmlns:a16="http://schemas.microsoft.com/office/drawing/2014/main" id="{46651F02-75EA-5467-2AF3-67DD606F991B}"/>
              </a:ext>
            </a:extLst>
          </p:cNvPr>
          <p:cNvSpPr>
            <a:spLocks noGrp="1"/>
          </p:cNvSpPr>
          <p:nvPr>
            <p:ph sz="half" idx="1"/>
          </p:nvPr>
        </p:nvSpPr>
        <p:spPr>
          <a:xfrm>
            <a:off x="319223" y="1242936"/>
            <a:ext cx="4495800" cy="5364692"/>
          </a:xfrm>
        </p:spPr>
        <p:txBody>
          <a:bodyPr vert="horz" lIns="91440" tIns="45720" rIns="91440" bIns="45720" rtlCol="0" anchor="t">
            <a:normAutofit lnSpcReduction="10000"/>
          </a:bodyPr>
          <a:lstStyle/>
          <a:p>
            <a:r>
              <a:rPr lang="en-US" dirty="0"/>
              <a:t>Transformations for the silver data will be done depending on what tables need transformation. In this example, 01_transform_claims_batch will use the clean </a:t>
            </a:r>
            <a:r>
              <a:rPr lang="en-US" dirty="0" err="1"/>
              <a:t>claims_batch</a:t>
            </a:r>
            <a:r>
              <a:rPr lang="en-US" dirty="0"/>
              <a:t> data and add a column called </a:t>
            </a:r>
            <a:r>
              <a:rPr lang="en-US" dirty="0" err="1"/>
              <a:t>ClaimDetection</a:t>
            </a:r>
            <a:r>
              <a:rPr lang="en-US" dirty="0"/>
              <a:t> to check </a:t>
            </a:r>
            <a:r>
              <a:rPr lang="en-US" dirty="0" err="1"/>
              <a:t>wether</a:t>
            </a:r>
            <a:r>
              <a:rPr lang="en-US" dirty="0"/>
              <a:t> we have valid claims. We assume claims that have a </a:t>
            </a:r>
            <a:r>
              <a:rPr lang="en-US" dirty="0" err="1"/>
              <a:t>ClaimDate</a:t>
            </a:r>
            <a:r>
              <a:rPr lang="en-US" dirty="0"/>
              <a:t> before </a:t>
            </a:r>
            <a:r>
              <a:rPr lang="en-US" dirty="0" err="1"/>
              <a:t>ServiceDate</a:t>
            </a:r>
            <a:r>
              <a:rPr lang="en-US" dirty="0"/>
              <a:t> are 'Fraudulent' as there should be no claim if it has not been serviced yet. This example shows a simple transformation only for one </a:t>
            </a:r>
            <a:r>
              <a:rPr lang="en-US" dirty="0" err="1"/>
              <a:t>domain_name</a:t>
            </a:r>
            <a:r>
              <a:rPr lang="en-US" dirty="0"/>
              <a:t>, but if need be, the other tables can also have their own transform scripts.</a:t>
            </a:r>
          </a:p>
        </p:txBody>
      </p:sp>
      <p:sp>
        <p:nvSpPr>
          <p:cNvPr id="5" name="Date Placeholder 4">
            <a:extLst>
              <a:ext uri="{FF2B5EF4-FFF2-40B4-BE49-F238E27FC236}">
                <a16:creationId xmlns:a16="http://schemas.microsoft.com/office/drawing/2014/main" id="{09B2442D-8DCB-33D9-D9DE-514289AD436A}"/>
              </a:ext>
            </a:extLst>
          </p:cNvPr>
          <p:cNvSpPr>
            <a:spLocks noGrp="1"/>
          </p:cNvSpPr>
          <p:nvPr>
            <p:ph type="dt" sz="half" idx="10"/>
          </p:nvPr>
        </p:nvSpPr>
        <p:spPr/>
        <p:txBody>
          <a:bodyPr/>
          <a:lstStyle/>
          <a:p>
            <a:fld id="{14F6B3D6-BEC0-4F96-B231-9F9DED2AD5B8}" type="datetime1">
              <a:t>8/30/2025</a:t>
            </a:fld>
            <a:endParaRPr lang="en-US" dirty="0"/>
          </a:p>
        </p:txBody>
      </p:sp>
      <p:sp>
        <p:nvSpPr>
          <p:cNvPr id="6" name="Footer Placeholder 5">
            <a:extLst>
              <a:ext uri="{FF2B5EF4-FFF2-40B4-BE49-F238E27FC236}">
                <a16:creationId xmlns:a16="http://schemas.microsoft.com/office/drawing/2014/main" id="{B003314D-BDD9-D3CD-FC02-A2AF10D1E83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E17BBF0-5586-1BA9-8868-110568E5A38F}"/>
              </a:ext>
            </a:extLst>
          </p:cNvPr>
          <p:cNvSpPr>
            <a:spLocks noGrp="1"/>
          </p:cNvSpPr>
          <p:nvPr>
            <p:ph type="sldNum" sz="quarter" idx="12"/>
          </p:nvPr>
        </p:nvSpPr>
        <p:spPr/>
        <p:txBody>
          <a:bodyPr/>
          <a:lstStyle/>
          <a:p>
            <a:fld id="{196A61CA-0502-4EE4-9724-96EA822543E5}" type="slidenum">
              <a:rPr lang="en-US" dirty="0"/>
              <a:t>18</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9A8A31E3-6562-50E4-D05F-768AB5FA8039}"/>
              </a:ext>
            </a:extLst>
          </p:cNvPr>
          <p:cNvPicPr>
            <a:picLocks noChangeAspect="1"/>
          </p:cNvPicPr>
          <p:nvPr/>
        </p:nvPicPr>
        <p:blipFill>
          <a:blip r:embed="rId2"/>
          <a:stretch>
            <a:fillRect/>
          </a:stretch>
        </p:blipFill>
        <p:spPr>
          <a:xfrm>
            <a:off x="4810054" y="457200"/>
            <a:ext cx="7176549" cy="6150429"/>
          </a:xfrm>
          <a:prstGeom prst="rect">
            <a:avLst/>
          </a:prstGeom>
        </p:spPr>
      </p:pic>
    </p:spTree>
    <p:extLst>
      <p:ext uri="{BB962C8B-B14F-4D97-AF65-F5344CB8AC3E}">
        <p14:creationId xmlns:p14="http://schemas.microsoft.com/office/powerpoint/2010/main" val="1353072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1BD0-C551-F556-DBCE-637C57849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4EE2A-ACD9-E57E-B318-06045F6943D7}"/>
              </a:ext>
            </a:extLst>
          </p:cNvPr>
          <p:cNvSpPr>
            <a:spLocks noGrp="1"/>
          </p:cNvSpPr>
          <p:nvPr>
            <p:ph type="title"/>
          </p:nvPr>
        </p:nvSpPr>
        <p:spPr/>
        <p:txBody>
          <a:bodyPr/>
          <a:lstStyle/>
          <a:p>
            <a:r>
              <a:rPr lang="en-US" dirty="0"/>
              <a:t>GOLD</a:t>
            </a:r>
          </a:p>
        </p:txBody>
      </p:sp>
      <p:sp>
        <p:nvSpPr>
          <p:cNvPr id="3" name="Content Placeholder 2">
            <a:extLst>
              <a:ext uri="{FF2B5EF4-FFF2-40B4-BE49-F238E27FC236}">
                <a16:creationId xmlns:a16="http://schemas.microsoft.com/office/drawing/2014/main" id="{0EF44EEA-1677-2ACC-DBE1-26A63CBA86A3}"/>
              </a:ext>
            </a:extLst>
          </p:cNvPr>
          <p:cNvSpPr>
            <a:spLocks noGrp="1"/>
          </p:cNvSpPr>
          <p:nvPr>
            <p:ph sz="half" idx="1"/>
          </p:nvPr>
        </p:nvSpPr>
        <p:spPr/>
        <p:txBody>
          <a:bodyPr vert="horz" lIns="91440" tIns="45720" rIns="91440" bIns="45720" rtlCol="0" anchor="t">
            <a:normAutofit/>
          </a:bodyPr>
          <a:lstStyle/>
          <a:p>
            <a:r>
              <a:rPr lang="en-US" dirty="0"/>
              <a:t>The gold part is the last part of our pipeline. When all transformations and cleaning of our data is done in silver layer, data from the silver or silver transformed tables will be "curated" or inserted to gold tables. Gold tables will hold this data so that it can be used to created reports by third party applications such as SAP BO or </a:t>
            </a:r>
            <a:r>
              <a:rPr lang="en-US" dirty="0" err="1"/>
              <a:t>PowerBI</a:t>
            </a:r>
            <a:r>
              <a:rPr lang="en-US" dirty="0"/>
              <a:t>, or by using the available DBK Dashboards.</a:t>
            </a:r>
          </a:p>
        </p:txBody>
      </p:sp>
      <p:sp>
        <p:nvSpPr>
          <p:cNvPr id="5" name="Date Placeholder 4">
            <a:extLst>
              <a:ext uri="{FF2B5EF4-FFF2-40B4-BE49-F238E27FC236}">
                <a16:creationId xmlns:a16="http://schemas.microsoft.com/office/drawing/2014/main" id="{ADB04886-730E-7A39-6DBF-FF9D0AF7D716}"/>
              </a:ext>
            </a:extLst>
          </p:cNvPr>
          <p:cNvSpPr>
            <a:spLocks noGrp="1"/>
          </p:cNvSpPr>
          <p:nvPr>
            <p:ph type="dt" sz="half" idx="10"/>
          </p:nvPr>
        </p:nvSpPr>
        <p:spPr/>
        <p:txBody>
          <a:bodyPr/>
          <a:lstStyle/>
          <a:p>
            <a:fld id="{9EF6C93B-41BA-45CC-9595-730922C604F7}" type="datetime1">
              <a:t>8/30/2025</a:t>
            </a:fld>
            <a:endParaRPr lang="en-US" dirty="0"/>
          </a:p>
        </p:txBody>
      </p:sp>
      <p:sp>
        <p:nvSpPr>
          <p:cNvPr id="6" name="Footer Placeholder 5">
            <a:extLst>
              <a:ext uri="{FF2B5EF4-FFF2-40B4-BE49-F238E27FC236}">
                <a16:creationId xmlns:a16="http://schemas.microsoft.com/office/drawing/2014/main" id="{3EF2B2E9-5000-3E2D-94D2-B2909200F48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EF297110-2247-BD9F-BA77-062872E3B7F6}"/>
              </a:ext>
            </a:extLst>
          </p:cNvPr>
          <p:cNvSpPr>
            <a:spLocks noGrp="1"/>
          </p:cNvSpPr>
          <p:nvPr>
            <p:ph type="sldNum" sz="quarter" idx="12"/>
          </p:nvPr>
        </p:nvSpPr>
        <p:spPr/>
        <p:txBody>
          <a:bodyPr/>
          <a:lstStyle/>
          <a:p>
            <a:fld id="{196A61CA-0502-4EE4-9724-96EA822543E5}" type="slidenum">
              <a:rPr lang="en-US" dirty="0"/>
              <a:t>19</a:t>
            </a:fld>
            <a:endParaRPr lang="en-US" dirty="0"/>
          </a:p>
        </p:txBody>
      </p:sp>
      <p:pic>
        <p:nvPicPr>
          <p:cNvPr id="11" name="Content Placeholder 10" descr="A black and grey line&#10;&#10;AI-generated content may be incorrect.">
            <a:extLst>
              <a:ext uri="{FF2B5EF4-FFF2-40B4-BE49-F238E27FC236}">
                <a16:creationId xmlns:a16="http://schemas.microsoft.com/office/drawing/2014/main" id="{4BB98F2F-3ACC-6CFE-881B-ACFC3E611A09}"/>
              </a:ext>
            </a:extLst>
          </p:cNvPr>
          <p:cNvPicPr>
            <a:picLocks noGrp="1" noChangeAspect="1"/>
          </p:cNvPicPr>
          <p:nvPr>
            <p:ph sz="half" idx="2"/>
          </p:nvPr>
        </p:nvPicPr>
        <p:blipFill>
          <a:blip r:embed="rId2"/>
          <a:stretch>
            <a:fillRect/>
          </a:stretch>
        </p:blipFill>
        <p:spPr>
          <a:xfrm>
            <a:off x="6091918" y="2527148"/>
            <a:ext cx="5233307" cy="2241096"/>
          </a:xfrm>
          <a:prstGeom prst="rect">
            <a:avLst/>
          </a:prstGeom>
        </p:spPr>
      </p:pic>
    </p:spTree>
    <p:extLst>
      <p:ext uri="{BB962C8B-B14F-4D97-AF65-F5344CB8AC3E}">
        <p14:creationId xmlns:p14="http://schemas.microsoft.com/office/powerpoint/2010/main" val="1243748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7D9A7-BE59-106C-3A80-87A44E9905BA}"/>
              </a:ext>
            </a:extLst>
          </p:cNvPr>
          <p:cNvSpPr>
            <a:spLocks noGrp="1"/>
          </p:cNvSpPr>
          <p:nvPr>
            <p:ph type="title"/>
          </p:nvPr>
        </p:nvSpPr>
        <p:spPr/>
        <p:txBody>
          <a:bodyPr/>
          <a:lstStyle/>
          <a:p>
            <a:r>
              <a:rPr lang="en-US" dirty="0"/>
              <a:t>JOBS &amp; PIPELINES</a:t>
            </a:r>
          </a:p>
        </p:txBody>
      </p:sp>
      <p:pic>
        <p:nvPicPr>
          <p:cNvPr id="7" name="Content Placeholder 6" descr="A screenshot of a computer&#10;&#10;AI-generated content may be incorrect.">
            <a:extLst>
              <a:ext uri="{FF2B5EF4-FFF2-40B4-BE49-F238E27FC236}">
                <a16:creationId xmlns:a16="http://schemas.microsoft.com/office/drawing/2014/main" id="{4C2364A7-E934-4D4B-21C8-4FB84832E9EB}"/>
              </a:ext>
            </a:extLst>
          </p:cNvPr>
          <p:cNvPicPr>
            <a:picLocks noGrp="1" noChangeAspect="1"/>
          </p:cNvPicPr>
          <p:nvPr>
            <p:ph idx="1"/>
          </p:nvPr>
        </p:nvPicPr>
        <p:blipFill>
          <a:blip r:embed="rId2"/>
          <a:stretch>
            <a:fillRect/>
          </a:stretch>
        </p:blipFill>
        <p:spPr>
          <a:xfrm>
            <a:off x="1429566" y="2748678"/>
            <a:ext cx="9238434" cy="2884643"/>
          </a:xfrm>
          <a:prstGeom prst="rect">
            <a:avLst/>
          </a:prstGeom>
        </p:spPr>
      </p:pic>
      <p:sp>
        <p:nvSpPr>
          <p:cNvPr id="4" name="Date Placeholder 3">
            <a:extLst>
              <a:ext uri="{FF2B5EF4-FFF2-40B4-BE49-F238E27FC236}">
                <a16:creationId xmlns:a16="http://schemas.microsoft.com/office/drawing/2014/main" id="{F6623A01-68FA-6573-5A77-C1DC1875FF2B}"/>
              </a:ext>
            </a:extLst>
          </p:cNvPr>
          <p:cNvSpPr>
            <a:spLocks noGrp="1"/>
          </p:cNvSpPr>
          <p:nvPr>
            <p:ph type="dt" sz="half" idx="10"/>
          </p:nvPr>
        </p:nvSpPr>
        <p:spPr/>
        <p:txBody>
          <a:bodyPr/>
          <a:lstStyle/>
          <a:p>
            <a:fld id="{A0A98982-6F23-491A-A9FB-3D6C8FEEF4BE}" type="datetime1">
              <a:t>8/30/2025</a:t>
            </a:fld>
            <a:endParaRPr lang="en-US" dirty="0"/>
          </a:p>
        </p:txBody>
      </p:sp>
      <p:sp>
        <p:nvSpPr>
          <p:cNvPr id="5" name="Footer Placeholder 4">
            <a:extLst>
              <a:ext uri="{FF2B5EF4-FFF2-40B4-BE49-F238E27FC236}">
                <a16:creationId xmlns:a16="http://schemas.microsoft.com/office/drawing/2014/main" id="{143DF60B-6A14-529C-4922-FA87725B47D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A5C4E46-8C02-F49B-E3D7-09D730C69922}"/>
              </a:ext>
            </a:extLst>
          </p:cNvPr>
          <p:cNvSpPr>
            <a:spLocks noGrp="1"/>
          </p:cNvSpPr>
          <p:nvPr>
            <p:ph type="sldNum" sz="quarter" idx="12"/>
          </p:nvPr>
        </p:nvSpPr>
        <p:spPr/>
        <p:txBody>
          <a:bodyPr/>
          <a:lstStyle/>
          <a:p>
            <a:fld id="{196A61CA-0502-4EE4-9724-96EA822543E5}" type="slidenum">
              <a:rPr lang="en-US" dirty="0"/>
              <a:t>20</a:t>
            </a:fld>
            <a:endParaRPr lang="en-US" dirty="0"/>
          </a:p>
        </p:txBody>
      </p:sp>
    </p:spTree>
    <p:extLst>
      <p:ext uri="{BB962C8B-B14F-4D97-AF65-F5344CB8AC3E}">
        <p14:creationId xmlns:p14="http://schemas.microsoft.com/office/powerpoint/2010/main" val="436971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26794-7E7A-9DC7-107A-CC543EDB9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A0FEF-67BF-FB53-A6DD-0C359E9C65F8}"/>
              </a:ext>
            </a:extLst>
          </p:cNvPr>
          <p:cNvSpPr>
            <a:spLocks noGrp="1"/>
          </p:cNvSpPr>
          <p:nvPr>
            <p:ph type="title"/>
          </p:nvPr>
        </p:nvSpPr>
        <p:spPr>
          <a:xfrm>
            <a:off x="1429566" y="453792"/>
            <a:ext cx="9238434" cy="861383"/>
          </a:xfrm>
        </p:spPr>
        <p:txBody>
          <a:bodyPr/>
          <a:lstStyle/>
          <a:p>
            <a:r>
              <a:rPr lang="en-US" dirty="0"/>
              <a:t>MEDISURE_INIT PIPELINE</a:t>
            </a:r>
          </a:p>
        </p:txBody>
      </p:sp>
      <p:sp>
        <p:nvSpPr>
          <p:cNvPr id="3" name="Date Placeholder 2">
            <a:extLst>
              <a:ext uri="{FF2B5EF4-FFF2-40B4-BE49-F238E27FC236}">
                <a16:creationId xmlns:a16="http://schemas.microsoft.com/office/drawing/2014/main" id="{F4DB8A30-4AE9-1E79-9BDA-86A9A4848EEE}"/>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DBABA4B9-BE3C-FB34-2C3F-7B38406846E4}"/>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9498982-DDBF-9344-B56E-A243C4B30F37}"/>
              </a:ext>
            </a:extLst>
          </p:cNvPr>
          <p:cNvSpPr>
            <a:spLocks noGrp="1"/>
          </p:cNvSpPr>
          <p:nvPr>
            <p:ph type="sldNum" sz="quarter" idx="12"/>
          </p:nvPr>
        </p:nvSpPr>
        <p:spPr/>
        <p:txBody>
          <a:bodyPr/>
          <a:lstStyle/>
          <a:p>
            <a:fld id="{196A61CA-0502-4EE4-9724-96EA822543E5}" type="slidenum">
              <a:rPr lang="en-US" dirty="0"/>
              <a:t>21</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CE27D2CA-09C7-0C60-D11C-4EAE347F1163}"/>
              </a:ext>
            </a:extLst>
          </p:cNvPr>
          <p:cNvPicPr>
            <a:picLocks noChangeAspect="1"/>
          </p:cNvPicPr>
          <p:nvPr/>
        </p:nvPicPr>
        <p:blipFill>
          <a:blip r:embed="rId2"/>
          <a:stretch>
            <a:fillRect/>
          </a:stretch>
        </p:blipFill>
        <p:spPr>
          <a:xfrm>
            <a:off x="642938" y="1317851"/>
            <a:ext cx="10895240" cy="3895725"/>
          </a:xfrm>
          <a:prstGeom prst="rect">
            <a:avLst/>
          </a:prstGeom>
        </p:spPr>
      </p:pic>
      <p:sp>
        <p:nvSpPr>
          <p:cNvPr id="8" name="TextBox 7">
            <a:extLst>
              <a:ext uri="{FF2B5EF4-FFF2-40B4-BE49-F238E27FC236}">
                <a16:creationId xmlns:a16="http://schemas.microsoft.com/office/drawing/2014/main" id="{BD29F9D4-BF6D-CAA5-BF7E-C8036A12369B}"/>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09DD90C2-2D95-A6D0-96C7-ADBFD7640C22}"/>
              </a:ext>
            </a:extLst>
          </p:cNvPr>
          <p:cNvSpPr txBox="1"/>
          <p:nvPr/>
        </p:nvSpPr>
        <p:spPr>
          <a:xfrm>
            <a:off x="643375" y="5213742"/>
            <a:ext cx="1085305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Pipeline containing the INIT notebooks. This is only manually run as the only time this pipeline is run is when making changes to the configurations of our tables or variables in </a:t>
            </a:r>
            <a:r>
              <a:rPr lang="en-US" dirty="0" err="1"/>
              <a:t>configurations_table</a:t>
            </a:r>
            <a:r>
              <a:rPr lang="en-US" dirty="0"/>
              <a:t>. Metadata columns will not be used in this pipeline as we want to overwrite our </a:t>
            </a:r>
            <a:r>
              <a:rPr lang="en-US" dirty="0" err="1"/>
              <a:t>configurations_table</a:t>
            </a:r>
            <a:r>
              <a:rPr lang="en-US" dirty="0"/>
              <a:t> every time we make these changes. Results for each pipeline run will be provided for better viewing.</a:t>
            </a:r>
          </a:p>
        </p:txBody>
      </p:sp>
    </p:spTree>
    <p:extLst>
      <p:ext uri="{BB962C8B-B14F-4D97-AF65-F5344CB8AC3E}">
        <p14:creationId xmlns:p14="http://schemas.microsoft.com/office/powerpoint/2010/main" val="959471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A721-6965-38C5-83BF-465E7197F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55E55-B391-468B-1380-494D84459FC4}"/>
              </a:ext>
            </a:extLst>
          </p:cNvPr>
          <p:cNvSpPr>
            <a:spLocks noGrp="1"/>
          </p:cNvSpPr>
          <p:nvPr>
            <p:ph type="title"/>
          </p:nvPr>
        </p:nvSpPr>
        <p:spPr>
          <a:xfrm>
            <a:off x="1429566" y="453792"/>
            <a:ext cx="9238434" cy="861383"/>
          </a:xfrm>
        </p:spPr>
        <p:txBody>
          <a:bodyPr/>
          <a:lstStyle/>
          <a:p>
            <a:r>
              <a:rPr lang="en-US" dirty="0"/>
              <a:t>MEDISURE_INIT PIPELINE RUNS</a:t>
            </a:r>
          </a:p>
        </p:txBody>
      </p:sp>
      <p:sp>
        <p:nvSpPr>
          <p:cNvPr id="3" name="Date Placeholder 2">
            <a:extLst>
              <a:ext uri="{FF2B5EF4-FFF2-40B4-BE49-F238E27FC236}">
                <a16:creationId xmlns:a16="http://schemas.microsoft.com/office/drawing/2014/main" id="{46BFCD6D-BB34-F71E-8A74-39E6420D1A75}"/>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8006731E-2A62-3C54-9257-0C4C8E9BB911}"/>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D635FAF2-5C07-9621-9A98-D5CB7F5CBD3D}"/>
              </a:ext>
            </a:extLst>
          </p:cNvPr>
          <p:cNvSpPr>
            <a:spLocks noGrp="1"/>
          </p:cNvSpPr>
          <p:nvPr>
            <p:ph type="sldNum" sz="quarter" idx="12"/>
          </p:nvPr>
        </p:nvSpPr>
        <p:spPr/>
        <p:txBody>
          <a:bodyPr/>
          <a:lstStyle/>
          <a:p>
            <a:fld id="{196A61CA-0502-4EE4-9724-96EA822543E5}" type="slidenum">
              <a:rPr lang="en-US" dirty="0"/>
              <a:t>22</a:t>
            </a:fld>
            <a:endParaRPr lang="en-US" dirty="0"/>
          </a:p>
        </p:txBody>
      </p:sp>
      <p:sp>
        <p:nvSpPr>
          <p:cNvPr id="8" name="TextBox 7">
            <a:extLst>
              <a:ext uri="{FF2B5EF4-FFF2-40B4-BE49-F238E27FC236}">
                <a16:creationId xmlns:a16="http://schemas.microsoft.com/office/drawing/2014/main" id="{E60A8CEB-C2C1-6082-8EA1-3C2F028F3BD2}"/>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descr="A screenshot of a computer&#10;&#10;AI-generated content may be incorrect.">
            <a:extLst>
              <a:ext uri="{FF2B5EF4-FFF2-40B4-BE49-F238E27FC236}">
                <a16:creationId xmlns:a16="http://schemas.microsoft.com/office/drawing/2014/main" id="{A439FAF7-FE41-99CD-7FD4-7606A0DE1083}"/>
              </a:ext>
            </a:extLst>
          </p:cNvPr>
          <p:cNvPicPr>
            <a:picLocks noChangeAspect="1"/>
          </p:cNvPicPr>
          <p:nvPr/>
        </p:nvPicPr>
        <p:blipFill>
          <a:blip r:embed="rId2"/>
          <a:stretch>
            <a:fillRect/>
          </a:stretch>
        </p:blipFill>
        <p:spPr>
          <a:xfrm>
            <a:off x="859971" y="1313630"/>
            <a:ext cx="10472058" cy="5166913"/>
          </a:xfrm>
          <a:prstGeom prst="rect">
            <a:avLst/>
          </a:prstGeom>
        </p:spPr>
      </p:pic>
    </p:spTree>
    <p:extLst>
      <p:ext uri="{BB962C8B-B14F-4D97-AF65-F5344CB8AC3E}">
        <p14:creationId xmlns:p14="http://schemas.microsoft.com/office/powerpoint/2010/main" val="719368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19D8D-A8EB-B252-D25D-C9E2E0852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570D0-6782-272F-5BD1-D44BB26E4408}"/>
              </a:ext>
            </a:extLst>
          </p:cNvPr>
          <p:cNvSpPr>
            <a:spLocks noGrp="1"/>
          </p:cNvSpPr>
          <p:nvPr>
            <p:ph type="title"/>
          </p:nvPr>
        </p:nvSpPr>
        <p:spPr>
          <a:xfrm>
            <a:off x="1429566" y="453792"/>
            <a:ext cx="9238434" cy="861383"/>
          </a:xfrm>
        </p:spPr>
        <p:txBody>
          <a:bodyPr/>
          <a:lstStyle/>
          <a:p>
            <a:r>
              <a:rPr lang="en-US" dirty="0"/>
              <a:t>MEDISURE_BRONZE PIPELINE</a:t>
            </a:r>
          </a:p>
        </p:txBody>
      </p:sp>
      <p:sp>
        <p:nvSpPr>
          <p:cNvPr id="3" name="Date Placeholder 2">
            <a:extLst>
              <a:ext uri="{FF2B5EF4-FFF2-40B4-BE49-F238E27FC236}">
                <a16:creationId xmlns:a16="http://schemas.microsoft.com/office/drawing/2014/main" id="{F4B57C07-E5D2-A5F6-B060-77F0DFAC1D78}"/>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DA25E46C-0E05-C69A-429A-140B9EEFCF52}"/>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8A4F7808-B5D9-2711-F4B9-50A8FA83A057}"/>
              </a:ext>
            </a:extLst>
          </p:cNvPr>
          <p:cNvSpPr>
            <a:spLocks noGrp="1"/>
          </p:cNvSpPr>
          <p:nvPr>
            <p:ph type="sldNum" sz="quarter" idx="12"/>
          </p:nvPr>
        </p:nvSpPr>
        <p:spPr/>
        <p:txBody>
          <a:bodyPr/>
          <a:lstStyle/>
          <a:p>
            <a:fld id="{196A61CA-0502-4EE4-9724-96EA822543E5}" type="slidenum">
              <a:rPr lang="en-US" dirty="0"/>
              <a:t>23</a:t>
            </a:fld>
            <a:endParaRPr lang="en-US" dirty="0"/>
          </a:p>
        </p:txBody>
      </p:sp>
      <p:sp>
        <p:nvSpPr>
          <p:cNvPr id="8" name="TextBox 7">
            <a:extLst>
              <a:ext uri="{FF2B5EF4-FFF2-40B4-BE49-F238E27FC236}">
                <a16:creationId xmlns:a16="http://schemas.microsoft.com/office/drawing/2014/main" id="{0B75F270-EF38-90E3-547C-6F046BA69585}"/>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1FCEAAC6-76F2-BABD-0DB7-C22C242818A3}"/>
              </a:ext>
            </a:extLst>
          </p:cNvPr>
          <p:cNvSpPr txBox="1"/>
          <p:nvPr/>
        </p:nvSpPr>
        <p:spPr>
          <a:xfrm>
            <a:off x="643375" y="5213742"/>
            <a:ext cx="1085305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Pipeline containing the BRONZE notebooks. As seen in the image above, the five tasks for each domain name (named after each different file containing different data) will run in parallel after moving the files from IN folder to TODO. The volume containing these folders can be located under bronze schema in </a:t>
            </a:r>
            <a:r>
              <a:rPr lang="en-US" dirty="0" err="1"/>
              <a:t>medisure</a:t>
            </a:r>
            <a:r>
              <a:rPr lang="en-US" dirty="0"/>
              <a:t> catalog. There is only one ingest notebook. This will use parameters to push down the appropriate domain name as well as metadata IDs to be used by each task to run in parallel.</a:t>
            </a:r>
          </a:p>
        </p:txBody>
      </p:sp>
      <p:pic>
        <p:nvPicPr>
          <p:cNvPr id="9" name="Picture 8" descr="A screenshot of a computer&#10;&#10;AI-generated content may be incorrect.">
            <a:extLst>
              <a:ext uri="{FF2B5EF4-FFF2-40B4-BE49-F238E27FC236}">
                <a16:creationId xmlns:a16="http://schemas.microsoft.com/office/drawing/2014/main" id="{97209E27-E33D-B2B9-610A-0667B2FDF04C}"/>
              </a:ext>
            </a:extLst>
          </p:cNvPr>
          <p:cNvPicPr>
            <a:picLocks noChangeAspect="1"/>
          </p:cNvPicPr>
          <p:nvPr/>
        </p:nvPicPr>
        <p:blipFill>
          <a:blip r:embed="rId2"/>
          <a:stretch>
            <a:fillRect/>
          </a:stretch>
        </p:blipFill>
        <p:spPr>
          <a:xfrm>
            <a:off x="669472" y="1317169"/>
            <a:ext cx="10896599" cy="3897088"/>
          </a:xfrm>
          <a:prstGeom prst="rect">
            <a:avLst/>
          </a:prstGeom>
        </p:spPr>
      </p:pic>
    </p:spTree>
    <p:extLst>
      <p:ext uri="{BB962C8B-B14F-4D97-AF65-F5344CB8AC3E}">
        <p14:creationId xmlns:p14="http://schemas.microsoft.com/office/powerpoint/2010/main" val="1339415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012FC-8000-63F6-B399-E3C81D4FC3EE}"/>
              </a:ext>
            </a:extLst>
          </p:cNvPr>
          <p:cNvSpPr>
            <a:spLocks noGrp="1"/>
          </p:cNvSpPr>
          <p:nvPr>
            <p:ph type="title"/>
          </p:nvPr>
        </p:nvSpPr>
        <p:spPr>
          <a:xfrm>
            <a:off x="1429566" y="453792"/>
            <a:ext cx="9238434" cy="861383"/>
          </a:xfrm>
        </p:spPr>
        <p:txBody>
          <a:bodyPr/>
          <a:lstStyle/>
          <a:p>
            <a:r>
              <a:rPr lang="en-US" dirty="0"/>
              <a:t>MEDISURE_BRONZE PIPELINE RUNS</a:t>
            </a:r>
          </a:p>
        </p:txBody>
      </p:sp>
      <p:sp>
        <p:nvSpPr>
          <p:cNvPr id="3" name="Date Placeholder 2">
            <a:extLst>
              <a:ext uri="{FF2B5EF4-FFF2-40B4-BE49-F238E27FC236}">
                <a16:creationId xmlns:a16="http://schemas.microsoft.com/office/drawing/2014/main" id="{48604D7C-176A-A690-AAA0-FDE0C4D97231}"/>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FE47C202-22B4-75A7-A378-ACA3F8A7CE90}"/>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91AEBE4-93C8-0D9B-E5FD-BB65E02A08ED}"/>
              </a:ext>
            </a:extLst>
          </p:cNvPr>
          <p:cNvSpPr>
            <a:spLocks noGrp="1"/>
          </p:cNvSpPr>
          <p:nvPr>
            <p:ph type="sldNum" sz="quarter" idx="12"/>
          </p:nvPr>
        </p:nvSpPr>
        <p:spPr/>
        <p:txBody>
          <a:bodyPr/>
          <a:lstStyle/>
          <a:p>
            <a:fld id="{196A61CA-0502-4EE4-9724-96EA822543E5}" type="slidenum">
              <a:rPr lang="en-US" dirty="0"/>
              <a:t>24</a:t>
            </a:fld>
            <a:endParaRPr lang="en-US" dirty="0"/>
          </a:p>
        </p:txBody>
      </p:sp>
      <p:sp>
        <p:nvSpPr>
          <p:cNvPr id="8" name="TextBox 7">
            <a:extLst>
              <a:ext uri="{FF2B5EF4-FFF2-40B4-BE49-F238E27FC236}">
                <a16:creationId xmlns:a16="http://schemas.microsoft.com/office/drawing/2014/main" id="{4E3A0E09-BA85-2BAA-0B20-C89F2BBF86C1}"/>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2" name="Picture 11" descr="A screenshot of a computer&#10;&#10;AI-generated content may be incorrect.">
            <a:extLst>
              <a:ext uri="{FF2B5EF4-FFF2-40B4-BE49-F238E27FC236}">
                <a16:creationId xmlns:a16="http://schemas.microsoft.com/office/drawing/2014/main" id="{9B2B828C-F419-909D-5327-BD32FAF39AE3}"/>
              </a:ext>
            </a:extLst>
          </p:cNvPr>
          <p:cNvPicPr>
            <a:picLocks noChangeAspect="1"/>
          </p:cNvPicPr>
          <p:nvPr/>
        </p:nvPicPr>
        <p:blipFill>
          <a:blip r:embed="rId2"/>
          <a:stretch>
            <a:fillRect/>
          </a:stretch>
        </p:blipFill>
        <p:spPr>
          <a:xfrm>
            <a:off x="1579789" y="1311729"/>
            <a:ext cx="9032421" cy="5344886"/>
          </a:xfrm>
          <a:prstGeom prst="rect">
            <a:avLst/>
          </a:prstGeom>
        </p:spPr>
      </p:pic>
    </p:spTree>
    <p:extLst>
      <p:ext uri="{BB962C8B-B14F-4D97-AF65-F5344CB8AC3E}">
        <p14:creationId xmlns:p14="http://schemas.microsoft.com/office/powerpoint/2010/main" val="2315273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BA965-865D-0A07-62BB-ED06C47C0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AD919-BC48-20F9-9A99-5C2F473E48F0}"/>
              </a:ext>
            </a:extLst>
          </p:cNvPr>
          <p:cNvSpPr>
            <a:spLocks noGrp="1"/>
          </p:cNvSpPr>
          <p:nvPr>
            <p:ph type="title"/>
          </p:nvPr>
        </p:nvSpPr>
        <p:spPr>
          <a:xfrm>
            <a:off x="1429566" y="453792"/>
            <a:ext cx="9238434" cy="861383"/>
          </a:xfrm>
        </p:spPr>
        <p:txBody>
          <a:bodyPr/>
          <a:lstStyle/>
          <a:p>
            <a:r>
              <a:rPr lang="en-US" dirty="0"/>
              <a:t>MEDISURE_BRONZE TASK SAMPLE</a:t>
            </a:r>
          </a:p>
        </p:txBody>
      </p:sp>
      <p:sp>
        <p:nvSpPr>
          <p:cNvPr id="3" name="Date Placeholder 2">
            <a:extLst>
              <a:ext uri="{FF2B5EF4-FFF2-40B4-BE49-F238E27FC236}">
                <a16:creationId xmlns:a16="http://schemas.microsoft.com/office/drawing/2014/main" id="{76C893BA-CAB5-0658-89A3-FF54726AF730}"/>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F4E1FA7F-2A4F-D21D-6E4A-F734C753CCE2}"/>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F42F5BE-F1D5-2B7C-EAC4-CEB4512FE319}"/>
              </a:ext>
            </a:extLst>
          </p:cNvPr>
          <p:cNvSpPr>
            <a:spLocks noGrp="1"/>
          </p:cNvSpPr>
          <p:nvPr>
            <p:ph type="sldNum" sz="quarter" idx="12"/>
          </p:nvPr>
        </p:nvSpPr>
        <p:spPr/>
        <p:txBody>
          <a:bodyPr/>
          <a:lstStyle/>
          <a:p>
            <a:fld id="{196A61CA-0502-4EE4-9724-96EA822543E5}" type="slidenum">
              <a:rPr lang="en-US" dirty="0"/>
              <a:t>25</a:t>
            </a:fld>
            <a:endParaRPr lang="en-US" dirty="0"/>
          </a:p>
        </p:txBody>
      </p:sp>
      <p:sp>
        <p:nvSpPr>
          <p:cNvPr id="8" name="TextBox 7">
            <a:extLst>
              <a:ext uri="{FF2B5EF4-FFF2-40B4-BE49-F238E27FC236}">
                <a16:creationId xmlns:a16="http://schemas.microsoft.com/office/drawing/2014/main" id="{A7462158-79E2-0826-083D-BFA9760441DE}"/>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screenshot of a computer&#10;&#10;AI-generated content may be incorrect.">
            <a:extLst>
              <a:ext uri="{FF2B5EF4-FFF2-40B4-BE49-F238E27FC236}">
                <a16:creationId xmlns:a16="http://schemas.microsoft.com/office/drawing/2014/main" id="{45267387-71BC-AA19-D88E-A6666A22299C}"/>
              </a:ext>
            </a:extLst>
          </p:cNvPr>
          <p:cNvPicPr>
            <a:picLocks noChangeAspect="1"/>
          </p:cNvPicPr>
          <p:nvPr/>
        </p:nvPicPr>
        <p:blipFill>
          <a:blip r:embed="rId2"/>
          <a:stretch>
            <a:fillRect/>
          </a:stretch>
        </p:blipFill>
        <p:spPr>
          <a:xfrm>
            <a:off x="2282519" y="1175657"/>
            <a:ext cx="7626963" cy="5682343"/>
          </a:xfrm>
          <a:prstGeom prst="rect">
            <a:avLst/>
          </a:prstGeom>
        </p:spPr>
      </p:pic>
    </p:spTree>
    <p:extLst>
      <p:ext uri="{BB962C8B-B14F-4D97-AF65-F5344CB8AC3E}">
        <p14:creationId xmlns:p14="http://schemas.microsoft.com/office/powerpoint/2010/main" val="3683508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287A2-6AD9-8555-D76B-26942F3D1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18E9B-EB6D-89A9-0C76-DD67DC63ABDC}"/>
              </a:ext>
            </a:extLst>
          </p:cNvPr>
          <p:cNvSpPr>
            <a:spLocks noGrp="1"/>
          </p:cNvSpPr>
          <p:nvPr>
            <p:ph type="title"/>
          </p:nvPr>
        </p:nvSpPr>
        <p:spPr>
          <a:xfrm>
            <a:off x="1429566" y="453792"/>
            <a:ext cx="9238434" cy="861383"/>
          </a:xfrm>
        </p:spPr>
        <p:txBody>
          <a:bodyPr/>
          <a:lstStyle/>
          <a:p>
            <a:r>
              <a:rPr lang="en-US" dirty="0"/>
              <a:t>MEDISURE_SILVER PIPELINE</a:t>
            </a:r>
          </a:p>
        </p:txBody>
      </p:sp>
      <p:sp>
        <p:nvSpPr>
          <p:cNvPr id="3" name="Date Placeholder 2">
            <a:extLst>
              <a:ext uri="{FF2B5EF4-FFF2-40B4-BE49-F238E27FC236}">
                <a16:creationId xmlns:a16="http://schemas.microsoft.com/office/drawing/2014/main" id="{048DB15B-1471-6D2C-8F14-7CCD9635D9B0}"/>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F293FB95-6A30-27AB-2E41-666215A3E494}"/>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3F497A0-C13C-9FC6-67C1-4F73200271D4}"/>
              </a:ext>
            </a:extLst>
          </p:cNvPr>
          <p:cNvSpPr>
            <a:spLocks noGrp="1"/>
          </p:cNvSpPr>
          <p:nvPr>
            <p:ph type="sldNum" sz="quarter" idx="12"/>
          </p:nvPr>
        </p:nvSpPr>
        <p:spPr/>
        <p:txBody>
          <a:bodyPr/>
          <a:lstStyle/>
          <a:p>
            <a:fld id="{196A61CA-0502-4EE4-9724-96EA822543E5}" type="slidenum">
              <a:rPr lang="en-US" dirty="0"/>
              <a:t>26</a:t>
            </a:fld>
            <a:endParaRPr lang="en-US" dirty="0"/>
          </a:p>
        </p:txBody>
      </p:sp>
      <p:sp>
        <p:nvSpPr>
          <p:cNvPr id="8" name="TextBox 7">
            <a:extLst>
              <a:ext uri="{FF2B5EF4-FFF2-40B4-BE49-F238E27FC236}">
                <a16:creationId xmlns:a16="http://schemas.microsoft.com/office/drawing/2014/main" id="{708CC736-DFB3-7133-6311-8A5801807B95}"/>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93E60089-BE8B-16CE-E70D-0C102E42B7A8}"/>
              </a:ext>
            </a:extLst>
          </p:cNvPr>
          <p:cNvSpPr txBox="1"/>
          <p:nvPr/>
        </p:nvSpPr>
        <p:spPr>
          <a:xfrm>
            <a:off x="643375" y="5213742"/>
            <a:ext cx="1085305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Pipeline containing the SILVER notebooks. As seen in the image above, the five tasks for each domain name will run in parallel. For domain name </a:t>
            </a:r>
            <a:r>
              <a:rPr lang="en-US" dirty="0" err="1"/>
              <a:t>claims_batch</a:t>
            </a:r>
            <a:r>
              <a:rPr lang="en-US" dirty="0"/>
              <a:t>, since it has a transformation, it will have an additional task after cleaning, running the 01_transform_claims_batch script. 01_transform_claims_batch task is only dependent to its clean counterpart and does not wait for the other clean tasks to finish in order to run and has the domain name hard coded in its script.</a:t>
            </a:r>
          </a:p>
        </p:txBody>
      </p:sp>
      <p:pic>
        <p:nvPicPr>
          <p:cNvPr id="6" name="Picture 5" descr="A screenshot of a computer&#10;&#10;AI-generated content may be incorrect.">
            <a:extLst>
              <a:ext uri="{FF2B5EF4-FFF2-40B4-BE49-F238E27FC236}">
                <a16:creationId xmlns:a16="http://schemas.microsoft.com/office/drawing/2014/main" id="{2B9321E7-23BB-446B-C347-CB24ECF35BC5}"/>
              </a:ext>
            </a:extLst>
          </p:cNvPr>
          <p:cNvPicPr>
            <a:picLocks noChangeAspect="1"/>
          </p:cNvPicPr>
          <p:nvPr/>
        </p:nvPicPr>
        <p:blipFill>
          <a:blip r:embed="rId2"/>
          <a:stretch>
            <a:fillRect/>
          </a:stretch>
        </p:blipFill>
        <p:spPr>
          <a:xfrm>
            <a:off x="808018" y="1317171"/>
            <a:ext cx="10684824" cy="3897087"/>
          </a:xfrm>
          <a:prstGeom prst="rect">
            <a:avLst/>
          </a:prstGeom>
        </p:spPr>
      </p:pic>
    </p:spTree>
    <p:extLst>
      <p:ext uri="{BB962C8B-B14F-4D97-AF65-F5344CB8AC3E}">
        <p14:creationId xmlns:p14="http://schemas.microsoft.com/office/powerpoint/2010/main" val="382073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EEF4-1F8C-CB60-0045-DC6537D83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025FD-3130-4E23-9499-F8532102E851}"/>
              </a:ext>
            </a:extLst>
          </p:cNvPr>
          <p:cNvSpPr>
            <a:spLocks noGrp="1"/>
          </p:cNvSpPr>
          <p:nvPr>
            <p:ph type="title"/>
          </p:nvPr>
        </p:nvSpPr>
        <p:spPr>
          <a:xfrm>
            <a:off x="1429566" y="453792"/>
            <a:ext cx="9238434" cy="861383"/>
          </a:xfrm>
        </p:spPr>
        <p:txBody>
          <a:bodyPr/>
          <a:lstStyle/>
          <a:p>
            <a:r>
              <a:rPr lang="en-US" dirty="0"/>
              <a:t>MEDISURE_SILVER PIPELINE RUNS</a:t>
            </a:r>
          </a:p>
        </p:txBody>
      </p:sp>
      <p:sp>
        <p:nvSpPr>
          <p:cNvPr id="3" name="Date Placeholder 2">
            <a:extLst>
              <a:ext uri="{FF2B5EF4-FFF2-40B4-BE49-F238E27FC236}">
                <a16:creationId xmlns:a16="http://schemas.microsoft.com/office/drawing/2014/main" id="{4F415471-702A-34FD-0A7E-1678B5F0C2AA}"/>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D57FBF9D-3CB1-EA0A-3A86-941A181F331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228D3AB7-773D-7815-74B4-395483BF0227}"/>
              </a:ext>
            </a:extLst>
          </p:cNvPr>
          <p:cNvSpPr>
            <a:spLocks noGrp="1"/>
          </p:cNvSpPr>
          <p:nvPr>
            <p:ph type="sldNum" sz="quarter" idx="12"/>
          </p:nvPr>
        </p:nvSpPr>
        <p:spPr/>
        <p:txBody>
          <a:bodyPr/>
          <a:lstStyle/>
          <a:p>
            <a:fld id="{196A61CA-0502-4EE4-9724-96EA822543E5}" type="slidenum">
              <a:rPr lang="en-US" dirty="0"/>
              <a:t>27</a:t>
            </a:fld>
            <a:endParaRPr lang="en-US" dirty="0"/>
          </a:p>
        </p:txBody>
      </p:sp>
      <p:sp>
        <p:nvSpPr>
          <p:cNvPr id="8" name="TextBox 7">
            <a:extLst>
              <a:ext uri="{FF2B5EF4-FFF2-40B4-BE49-F238E27FC236}">
                <a16:creationId xmlns:a16="http://schemas.microsoft.com/office/drawing/2014/main" id="{06971CF9-2818-5EAF-8F24-39A1066E068A}"/>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descr="A screenshot of a computer&#10;&#10;AI-generated content may be incorrect.">
            <a:extLst>
              <a:ext uri="{FF2B5EF4-FFF2-40B4-BE49-F238E27FC236}">
                <a16:creationId xmlns:a16="http://schemas.microsoft.com/office/drawing/2014/main" id="{6FBDBDB8-F6EB-A3C8-16A8-CB540D74CDCB}"/>
              </a:ext>
            </a:extLst>
          </p:cNvPr>
          <p:cNvPicPr>
            <a:picLocks noChangeAspect="1"/>
          </p:cNvPicPr>
          <p:nvPr/>
        </p:nvPicPr>
        <p:blipFill>
          <a:blip r:embed="rId2"/>
          <a:stretch>
            <a:fillRect/>
          </a:stretch>
        </p:blipFill>
        <p:spPr>
          <a:xfrm>
            <a:off x="630010" y="1312409"/>
            <a:ext cx="10986407" cy="5387068"/>
          </a:xfrm>
          <a:prstGeom prst="rect">
            <a:avLst/>
          </a:prstGeom>
        </p:spPr>
      </p:pic>
    </p:spTree>
    <p:extLst>
      <p:ext uri="{BB962C8B-B14F-4D97-AF65-F5344CB8AC3E}">
        <p14:creationId xmlns:p14="http://schemas.microsoft.com/office/powerpoint/2010/main" val="573219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C9314-68CB-6A31-2FD4-824146344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E4169-8574-25CC-02A3-F4B9A41BC264}"/>
              </a:ext>
            </a:extLst>
          </p:cNvPr>
          <p:cNvSpPr>
            <a:spLocks noGrp="1"/>
          </p:cNvSpPr>
          <p:nvPr>
            <p:ph type="title"/>
          </p:nvPr>
        </p:nvSpPr>
        <p:spPr>
          <a:xfrm>
            <a:off x="1429566" y="453792"/>
            <a:ext cx="9238434" cy="861383"/>
          </a:xfrm>
        </p:spPr>
        <p:txBody>
          <a:bodyPr/>
          <a:lstStyle/>
          <a:p>
            <a:r>
              <a:rPr lang="en-US" dirty="0"/>
              <a:t>MEDISURE_SILVER TASK SAMPLE</a:t>
            </a:r>
          </a:p>
        </p:txBody>
      </p:sp>
      <p:sp>
        <p:nvSpPr>
          <p:cNvPr id="3" name="Date Placeholder 2">
            <a:extLst>
              <a:ext uri="{FF2B5EF4-FFF2-40B4-BE49-F238E27FC236}">
                <a16:creationId xmlns:a16="http://schemas.microsoft.com/office/drawing/2014/main" id="{D0F0FFA3-F729-9734-7C45-17AB1EE13303}"/>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2BE012CC-2533-5646-D8A5-C00CA7E13DFE}"/>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D901637E-3684-1D8F-EA71-2DF3E64FB9F9}"/>
              </a:ext>
            </a:extLst>
          </p:cNvPr>
          <p:cNvSpPr>
            <a:spLocks noGrp="1"/>
          </p:cNvSpPr>
          <p:nvPr>
            <p:ph type="sldNum" sz="quarter" idx="12"/>
          </p:nvPr>
        </p:nvSpPr>
        <p:spPr/>
        <p:txBody>
          <a:bodyPr/>
          <a:lstStyle/>
          <a:p>
            <a:fld id="{196A61CA-0502-4EE4-9724-96EA822543E5}" type="slidenum">
              <a:rPr lang="en-US" dirty="0"/>
              <a:t>28</a:t>
            </a:fld>
            <a:endParaRPr lang="en-US" dirty="0"/>
          </a:p>
        </p:txBody>
      </p:sp>
      <p:sp>
        <p:nvSpPr>
          <p:cNvPr id="8" name="TextBox 7">
            <a:extLst>
              <a:ext uri="{FF2B5EF4-FFF2-40B4-BE49-F238E27FC236}">
                <a16:creationId xmlns:a16="http://schemas.microsoft.com/office/drawing/2014/main" id="{89276D0E-23A7-5ADF-1972-F0E7E0B2498B}"/>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descr="A screenshot of a computer&#10;&#10;AI-generated content may be incorrect.">
            <a:extLst>
              <a:ext uri="{FF2B5EF4-FFF2-40B4-BE49-F238E27FC236}">
                <a16:creationId xmlns:a16="http://schemas.microsoft.com/office/drawing/2014/main" id="{801B383D-C005-B760-60EE-691DE995805D}"/>
              </a:ext>
            </a:extLst>
          </p:cNvPr>
          <p:cNvPicPr>
            <a:picLocks noChangeAspect="1"/>
          </p:cNvPicPr>
          <p:nvPr/>
        </p:nvPicPr>
        <p:blipFill>
          <a:blip r:embed="rId2"/>
          <a:stretch>
            <a:fillRect/>
          </a:stretch>
        </p:blipFill>
        <p:spPr>
          <a:xfrm>
            <a:off x="1719387" y="1317171"/>
            <a:ext cx="9101568" cy="5410200"/>
          </a:xfrm>
          <a:prstGeom prst="rect">
            <a:avLst/>
          </a:prstGeom>
        </p:spPr>
      </p:pic>
    </p:spTree>
    <p:extLst>
      <p:ext uri="{BB962C8B-B14F-4D97-AF65-F5344CB8AC3E}">
        <p14:creationId xmlns:p14="http://schemas.microsoft.com/office/powerpoint/2010/main" val="2941280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46360-C651-2365-93AC-0A51591A8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B0F58-3DD0-6DFB-7698-FE1A40E1B335}"/>
              </a:ext>
            </a:extLst>
          </p:cNvPr>
          <p:cNvSpPr>
            <a:spLocks noGrp="1"/>
          </p:cNvSpPr>
          <p:nvPr>
            <p:ph type="title"/>
          </p:nvPr>
        </p:nvSpPr>
        <p:spPr>
          <a:xfrm>
            <a:off x="1429566" y="453792"/>
            <a:ext cx="9238434" cy="861383"/>
          </a:xfrm>
        </p:spPr>
        <p:txBody>
          <a:bodyPr/>
          <a:lstStyle/>
          <a:p>
            <a:r>
              <a:rPr lang="en-US" dirty="0"/>
              <a:t>MEDISURE_GOLD PIPELINE</a:t>
            </a:r>
          </a:p>
        </p:txBody>
      </p:sp>
      <p:sp>
        <p:nvSpPr>
          <p:cNvPr id="3" name="Date Placeholder 2">
            <a:extLst>
              <a:ext uri="{FF2B5EF4-FFF2-40B4-BE49-F238E27FC236}">
                <a16:creationId xmlns:a16="http://schemas.microsoft.com/office/drawing/2014/main" id="{F0752ACC-7F29-A547-40DE-048CACD4CEAF}"/>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57FD6E68-148B-75CA-3F11-01D5D6BD4C97}"/>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1EA9196-23B4-4F26-E79B-CB688D3BFB33}"/>
              </a:ext>
            </a:extLst>
          </p:cNvPr>
          <p:cNvSpPr>
            <a:spLocks noGrp="1"/>
          </p:cNvSpPr>
          <p:nvPr>
            <p:ph type="sldNum" sz="quarter" idx="12"/>
          </p:nvPr>
        </p:nvSpPr>
        <p:spPr/>
        <p:txBody>
          <a:bodyPr/>
          <a:lstStyle/>
          <a:p>
            <a:fld id="{196A61CA-0502-4EE4-9724-96EA822543E5}" type="slidenum">
              <a:rPr lang="en-US" dirty="0"/>
              <a:t>29</a:t>
            </a:fld>
            <a:endParaRPr lang="en-US" dirty="0"/>
          </a:p>
        </p:txBody>
      </p:sp>
      <p:sp>
        <p:nvSpPr>
          <p:cNvPr id="8" name="TextBox 7">
            <a:extLst>
              <a:ext uri="{FF2B5EF4-FFF2-40B4-BE49-F238E27FC236}">
                <a16:creationId xmlns:a16="http://schemas.microsoft.com/office/drawing/2014/main" id="{82F17757-8760-DCBC-13DF-9C8A45241967}"/>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9E79982F-9C2A-E109-0EA0-F720EE9DF266}"/>
              </a:ext>
            </a:extLst>
          </p:cNvPr>
          <p:cNvSpPr txBox="1"/>
          <p:nvPr/>
        </p:nvSpPr>
        <p:spPr>
          <a:xfrm>
            <a:off x="643375" y="5213742"/>
            <a:ext cx="108530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Pipeline containing the GOLD notebooks. As seen in the image above, the five tasks for each domain name will run in parallel.</a:t>
            </a:r>
          </a:p>
        </p:txBody>
      </p:sp>
      <p:pic>
        <p:nvPicPr>
          <p:cNvPr id="7" name="Picture 6" descr="A screenshot of a computer&#10;&#10;AI-generated content may be incorrect.">
            <a:extLst>
              <a:ext uri="{FF2B5EF4-FFF2-40B4-BE49-F238E27FC236}">
                <a16:creationId xmlns:a16="http://schemas.microsoft.com/office/drawing/2014/main" id="{A2835227-7708-68F2-5A5D-788C2310592D}"/>
              </a:ext>
            </a:extLst>
          </p:cNvPr>
          <p:cNvPicPr>
            <a:picLocks noChangeAspect="1"/>
          </p:cNvPicPr>
          <p:nvPr/>
        </p:nvPicPr>
        <p:blipFill>
          <a:blip r:embed="rId2"/>
          <a:stretch>
            <a:fillRect/>
          </a:stretch>
        </p:blipFill>
        <p:spPr>
          <a:xfrm>
            <a:off x="1431173" y="1317171"/>
            <a:ext cx="9394969" cy="3886200"/>
          </a:xfrm>
          <a:prstGeom prst="rect">
            <a:avLst/>
          </a:prstGeom>
        </p:spPr>
      </p:pic>
    </p:spTree>
    <p:extLst>
      <p:ext uri="{BB962C8B-B14F-4D97-AF65-F5344CB8AC3E}">
        <p14:creationId xmlns:p14="http://schemas.microsoft.com/office/powerpoint/2010/main" val="1405222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3D904-18AF-7921-7C30-9CF62A212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D155A-59A7-9DBF-E58A-144632E9430B}"/>
              </a:ext>
            </a:extLst>
          </p:cNvPr>
          <p:cNvSpPr>
            <a:spLocks noGrp="1"/>
          </p:cNvSpPr>
          <p:nvPr>
            <p:ph type="title"/>
          </p:nvPr>
        </p:nvSpPr>
        <p:spPr>
          <a:xfrm>
            <a:off x="1429566" y="453792"/>
            <a:ext cx="9238434" cy="861383"/>
          </a:xfrm>
        </p:spPr>
        <p:txBody>
          <a:bodyPr/>
          <a:lstStyle/>
          <a:p>
            <a:r>
              <a:rPr lang="en-US" dirty="0"/>
              <a:t>MEDISURE_GOLD PIPELINE RUNS</a:t>
            </a:r>
          </a:p>
        </p:txBody>
      </p:sp>
      <p:sp>
        <p:nvSpPr>
          <p:cNvPr id="3" name="Date Placeholder 2">
            <a:extLst>
              <a:ext uri="{FF2B5EF4-FFF2-40B4-BE49-F238E27FC236}">
                <a16:creationId xmlns:a16="http://schemas.microsoft.com/office/drawing/2014/main" id="{AADD2B68-2AE0-BBE3-2EA2-38A20C2804DC}"/>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502F00E3-10FB-A368-F2ED-FB215A96DC14}"/>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CADA0B8-F736-6CDB-B5AA-185F1DE9592B}"/>
              </a:ext>
            </a:extLst>
          </p:cNvPr>
          <p:cNvSpPr>
            <a:spLocks noGrp="1"/>
          </p:cNvSpPr>
          <p:nvPr>
            <p:ph type="sldNum" sz="quarter" idx="12"/>
          </p:nvPr>
        </p:nvSpPr>
        <p:spPr/>
        <p:txBody>
          <a:bodyPr/>
          <a:lstStyle/>
          <a:p>
            <a:fld id="{196A61CA-0502-4EE4-9724-96EA822543E5}" type="slidenum">
              <a:rPr lang="en-US" dirty="0"/>
              <a:t>30</a:t>
            </a:fld>
            <a:endParaRPr lang="en-US" dirty="0"/>
          </a:p>
        </p:txBody>
      </p:sp>
      <p:sp>
        <p:nvSpPr>
          <p:cNvPr id="8" name="TextBox 7">
            <a:extLst>
              <a:ext uri="{FF2B5EF4-FFF2-40B4-BE49-F238E27FC236}">
                <a16:creationId xmlns:a16="http://schemas.microsoft.com/office/drawing/2014/main" id="{33181A17-5265-935A-874B-B0D249C014D6}"/>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descr="A screenshot of a computer&#10;&#10;AI-generated content may be incorrect.">
            <a:extLst>
              <a:ext uri="{FF2B5EF4-FFF2-40B4-BE49-F238E27FC236}">
                <a16:creationId xmlns:a16="http://schemas.microsoft.com/office/drawing/2014/main" id="{31B714BE-925C-5175-CBAD-5A98B7BB4A20}"/>
              </a:ext>
            </a:extLst>
          </p:cNvPr>
          <p:cNvPicPr>
            <a:picLocks noChangeAspect="1"/>
          </p:cNvPicPr>
          <p:nvPr/>
        </p:nvPicPr>
        <p:blipFill>
          <a:blip r:embed="rId2"/>
          <a:stretch>
            <a:fillRect/>
          </a:stretch>
        </p:blipFill>
        <p:spPr>
          <a:xfrm>
            <a:off x="630010" y="1312409"/>
            <a:ext cx="10986407" cy="5387068"/>
          </a:xfrm>
          <a:prstGeom prst="rect">
            <a:avLst/>
          </a:prstGeom>
        </p:spPr>
      </p:pic>
    </p:spTree>
    <p:extLst>
      <p:ext uri="{BB962C8B-B14F-4D97-AF65-F5344CB8AC3E}">
        <p14:creationId xmlns:p14="http://schemas.microsoft.com/office/powerpoint/2010/main" val="3166937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1C43-A3CC-6829-F0A8-6B68ABB23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61989-50F0-E688-50AB-EE4D8F11DEF3}"/>
              </a:ext>
            </a:extLst>
          </p:cNvPr>
          <p:cNvSpPr>
            <a:spLocks noGrp="1"/>
          </p:cNvSpPr>
          <p:nvPr>
            <p:ph type="title"/>
          </p:nvPr>
        </p:nvSpPr>
        <p:spPr>
          <a:xfrm>
            <a:off x="1429566" y="453792"/>
            <a:ext cx="9238434" cy="861383"/>
          </a:xfrm>
        </p:spPr>
        <p:txBody>
          <a:bodyPr/>
          <a:lstStyle/>
          <a:p>
            <a:r>
              <a:rPr lang="en-US" dirty="0"/>
              <a:t>MEDISURE_GOLD TASK SAMPLE</a:t>
            </a:r>
          </a:p>
        </p:txBody>
      </p:sp>
      <p:sp>
        <p:nvSpPr>
          <p:cNvPr id="3" name="Date Placeholder 2">
            <a:extLst>
              <a:ext uri="{FF2B5EF4-FFF2-40B4-BE49-F238E27FC236}">
                <a16:creationId xmlns:a16="http://schemas.microsoft.com/office/drawing/2014/main" id="{84A8AB39-12E6-102A-81F6-54ACA670283E}"/>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5D223573-54BE-7E67-7F99-FDBFA4A0915C}"/>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A94FB19D-4B5E-FA8D-A8C8-8B07203F82CA}"/>
              </a:ext>
            </a:extLst>
          </p:cNvPr>
          <p:cNvSpPr>
            <a:spLocks noGrp="1"/>
          </p:cNvSpPr>
          <p:nvPr>
            <p:ph type="sldNum" sz="quarter" idx="12"/>
          </p:nvPr>
        </p:nvSpPr>
        <p:spPr/>
        <p:txBody>
          <a:bodyPr/>
          <a:lstStyle/>
          <a:p>
            <a:fld id="{196A61CA-0502-4EE4-9724-96EA822543E5}" type="slidenum">
              <a:rPr lang="en-US" dirty="0"/>
              <a:t>31</a:t>
            </a:fld>
            <a:endParaRPr lang="en-US" dirty="0"/>
          </a:p>
        </p:txBody>
      </p:sp>
      <p:sp>
        <p:nvSpPr>
          <p:cNvPr id="8" name="TextBox 7">
            <a:extLst>
              <a:ext uri="{FF2B5EF4-FFF2-40B4-BE49-F238E27FC236}">
                <a16:creationId xmlns:a16="http://schemas.microsoft.com/office/drawing/2014/main" id="{DCA65C82-A044-569C-F77B-E855C3D67962}"/>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screenshot of a computer&#10;&#10;AI-generated content may be incorrect.">
            <a:extLst>
              <a:ext uri="{FF2B5EF4-FFF2-40B4-BE49-F238E27FC236}">
                <a16:creationId xmlns:a16="http://schemas.microsoft.com/office/drawing/2014/main" id="{0012A755-6D57-B99F-12C1-DF70A47ED7A2}"/>
              </a:ext>
            </a:extLst>
          </p:cNvPr>
          <p:cNvPicPr>
            <a:picLocks noChangeAspect="1"/>
          </p:cNvPicPr>
          <p:nvPr/>
        </p:nvPicPr>
        <p:blipFill>
          <a:blip r:embed="rId2"/>
          <a:stretch>
            <a:fillRect/>
          </a:stretch>
        </p:blipFill>
        <p:spPr>
          <a:xfrm>
            <a:off x="1989025" y="1317171"/>
            <a:ext cx="8213952" cy="5366658"/>
          </a:xfrm>
          <a:prstGeom prst="rect">
            <a:avLst/>
          </a:prstGeom>
        </p:spPr>
      </p:pic>
    </p:spTree>
    <p:extLst>
      <p:ext uri="{BB962C8B-B14F-4D97-AF65-F5344CB8AC3E}">
        <p14:creationId xmlns:p14="http://schemas.microsoft.com/office/powerpoint/2010/main" val="2061080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61F19-EC11-64B4-3C5D-D20DCEBF0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FC5B5-6F40-D44D-21FF-D7C3866980FE}"/>
              </a:ext>
            </a:extLst>
          </p:cNvPr>
          <p:cNvSpPr>
            <a:spLocks noGrp="1"/>
          </p:cNvSpPr>
          <p:nvPr>
            <p:ph type="title"/>
          </p:nvPr>
        </p:nvSpPr>
        <p:spPr>
          <a:xfrm>
            <a:off x="1429566" y="453792"/>
            <a:ext cx="9238434" cy="861383"/>
          </a:xfrm>
        </p:spPr>
        <p:txBody>
          <a:bodyPr/>
          <a:lstStyle/>
          <a:p>
            <a:r>
              <a:rPr lang="en-US" dirty="0"/>
              <a:t>MEDISURE_ORCHESTRATOR PIPELINE</a:t>
            </a:r>
          </a:p>
        </p:txBody>
      </p:sp>
      <p:sp>
        <p:nvSpPr>
          <p:cNvPr id="3" name="Date Placeholder 2">
            <a:extLst>
              <a:ext uri="{FF2B5EF4-FFF2-40B4-BE49-F238E27FC236}">
                <a16:creationId xmlns:a16="http://schemas.microsoft.com/office/drawing/2014/main" id="{20695942-44C7-0476-ECFA-FE308FDA055F}"/>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0C2C03F1-AF89-0411-964B-C976BD905C0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D39319D-791D-4920-DEE8-839C27CF3CFF}"/>
              </a:ext>
            </a:extLst>
          </p:cNvPr>
          <p:cNvSpPr>
            <a:spLocks noGrp="1"/>
          </p:cNvSpPr>
          <p:nvPr>
            <p:ph type="sldNum" sz="quarter" idx="12"/>
          </p:nvPr>
        </p:nvSpPr>
        <p:spPr/>
        <p:txBody>
          <a:bodyPr/>
          <a:lstStyle/>
          <a:p>
            <a:fld id="{196A61CA-0502-4EE4-9724-96EA822543E5}" type="slidenum">
              <a:rPr lang="en-US" dirty="0"/>
              <a:t>32</a:t>
            </a:fld>
            <a:endParaRPr lang="en-US" dirty="0"/>
          </a:p>
        </p:txBody>
      </p:sp>
      <p:sp>
        <p:nvSpPr>
          <p:cNvPr id="10" name="TextBox 9">
            <a:extLst>
              <a:ext uri="{FF2B5EF4-FFF2-40B4-BE49-F238E27FC236}">
                <a16:creationId xmlns:a16="http://schemas.microsoft.com/office/drawing/2014/main" id="{870E73F4-A97B-3828-9179-4DD682008B0B}"/>
              </a:ext>
            </a:extLst>
          </p:cNvPr>
          <p:cNvSpPr txBox="1"/>
          <p:nvPr/>
        </p:nvSpPr>
        <p:spPr>
          <a:xfrm>
            <a:off x="665146" y="5594742"/>
            <a:ext cx="108530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Pipeline containing the job for each layer. This job will have the job notifications and schedules/triggers settings as it contains all the necessary jobs for the entire process.</a:t>
            </a:r>
          </a:p>
        </p:txBody>
      </p:sp>
      <p:pic>
        <p:nvPicPr>
          <p:cNvPr id="9" name="Picture 8" descr="A screenshot of a computer&#10;&#10;AI-generated content may be incorrect.">
            <a:extLst>
              <a:ext uri="{FF2B5EF4-FFF2-40B4-BE49-F238E27FC236}">
                <a16:creationId xmlns:a16="http://schemas.microsoft.com/office/drawing/2014/main" id="{FDB4A80B-1EA2-762D-ECAB-6CC623D4E1F0}"/>
              </a:ext>
            </a:extLst>
          </p:cNvPr>
          <p:cNvPicPr>
            <a:picLocks noChangeAspect="1"/>
          </p:cNvPicPr>
          <p:nvPr/>
        </p:nvPicPr>
        <p:blipFill>
          <a:blip r:embed="rId2"/>
          <a:stretch>
            <a:fillRect/>
          </a:stretch>
        </p:blipFill>
        <p:spPr>
          <a:xfrm>
            <a:off x="1088571" y="1275221"/>
            <a:ext cx="9753601" cy="4318443"/>
          </a:xfrm>
          <a:prstGeom prst="rect">
            <a:avLst/>
          </a:prstGeom>
        </p:spPr>
      </p:pic>
    </p:spTree>
    <p:extLst>
      <p:ext uri="{BB962C8B-B14F-4D97-AF65-F5344CB8AC3E}">
        <p14:creationId xmlns:p14="http://schemas.microsoft.com/office/powerpoint/2010/main" val="1899929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C321A-CF4D-CC87-477D-6886217BE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5EC34-4167-F5F6-47BF-117AAB8C2A65}"/>
              </a:ext>
            </a:extLst>
          </p:cNvPr>
          <p:cNvSpPr>
            <a:spLocks noGrp="1"/>
          </p:cNvSpPr>
          <p:nvPr>
            <p:ph type="title"/>
          </p:nvPr>
        </p:nvSpPr>
        <p:spPr>
          <a:xfrm>
            <a:off x="1429566" y="453792"/>
            <a:ext cx="9238434" cy="861383"/>
          </a:xfrm>
        </p:spPr>
        <p:txBody>
          <a:bodyPr/>
          <a:lstStyle/>
          <a:p>
            <a:r>
              <a:rPr lang="en-US" dirty="0"/>
              <a:t>MEDISURE_ORCHESTRATOR PIPELINE/TASK SAMPLE</a:t>
            </a:r>
          </a:p>
        </p:txBody>
      </p:sp>
      <p:sp>
        <p:nvSpPr>
          <p:cNvPr id="3" name="Date Placeholder 2">
            <a:extLst>
              <a:ext uri="{FF2B5EF4-FFF2-40B4-BE49-F238E27FC236}">
                <a16:creationId xmlns:a16="http://schemas.microsoft.com/office/drawing/2014/main" id="{8C036920-375D-A2C9-9B75-CBE56C590B60}"/>
              </a:ext>
            </a:extLst>
          </p:cNvPr>
          <p:cNvSpPr>
            <a:spLocks noGrp="1"/>
          </p:cNvSpPr>
          <p:nvPr>
            <p:ph type="dt" sz="half" idx="10"/>
          </p:nvPr>
        </p:nvSpPr>
        <p:spPr/>
        <p:txBody>
          <a:bodyPr/>
          <a:lstStyle/>
          <a:p>
            <a:fld id="{EF2D8F6C-EC43-4500-83A0-B0E0C4051A8B}" type="datetime1">
              <a:t>8/30/2025</a:t>
            </a:fld>
            <a:endParaRPr lang="en-US" dirty="0"/>
          </a:p>
        </p:txBody>
      </p:sp>
      <p:sp>
        <p:nvSpPr>
          <p:cNvPr id="4" name="Footer Placeholder 3">
            <a:extLst>
              <a:ext uri="{FF2B5EF4-FFF2-40B4-BE49-F238E27FC236}">
                <a16:creationId xmlns:a16="http://schemas.microsoft.com/office/drawing/2014/main" id="{AB816BB3-5315-B3DE-2C4D-120EAD24684A}"/>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B6018DEB-D08E-CA15-96EB-CF1EEC256468}"/>
              </a:ext>
            </a:extLst>
          </p:cNvPr>
          <p:cNvSpPr>
            <a:spLocks noGrp="1"/>
          </p:cNvSpPr>
          <p:nvPr>
            <p:ph type="sldNum" sz="quarter" idx="12"/>
          </p:nvPr>
        </p:nvSpPr>
        <p:spPr/>
        <p:txBody>
          <a:bodyPr/>
          <a:lstStyle/>
          <a:p>
            <a:fld id="{196A61CA-0502-4EE4-9724-96EA822543E5}" type="slidenum">
              <a:rPr lang="en-US" dirty="0"/>
              <a:t>33</a:t>
            </a:fld>
            <a:endParaRPr lang="en-US" dirty="0"/>
          </a:p>
        </p:txBody>
      </p:sp>
      <p:sp>
        <p:nvSpPr>
          <p:cNvPr id="8" name="TextBox 7">
            <a:extLst>
              <a:ext uri="{FF2B5EF4-FFF2-40B4-BE49-F238E27FC236}">
                <a16:creationId xmlns:a16="http://schemas.microsoft.com/office/drawing/2014/main" id="{BBCB5247-CEE1-F05B-780B-761BD8539962}"/>
              </a:ext>
            </a:extLst>
          </p:cNvPr>
          <p:cNvSpPr txBox="1"/>
          <p:nvPr/>
        </p:nvSpPr>
        <p:spPr>
          <a:xfrm>
            <a:off x="640036" y="5546988"/>
            <a:ext cx="10653063" cy="6827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descr="A screenshot of a computer&#10;&#10;AI-generated content may be incorrect.">
            <a:extLst>
              <a:ext uri="{FF2B5EF4-FFF2-40B4-BE49-F238E27FC236}">
                <a16:creationId xmlns:a16="http://schemas.microsoft.com/office/drawing/2014/main" id="{9E127C30-31B3-0156-FCA6-0013639F087B}"/>
              </a:ext>
            </a:extLst>
          </p:cNvPr>
          <p:cNvPicPr>
            <a:picLocks noChangeAspect="1"/>
          </p:cNvPicPr>
          <p:nvPr/>
        </p:nvPicPr>
        <p:blipFill>
          <a:blip r:embed="rId2"/>
          <a:stretch>
            <a:fillRect/>
          </a:stretch>
        </p:blipFill>
        <p:spPr>
          <a:xfrm>
            <a:off x="2049664" y="1317171"/>
            <a:ext cx="8005587" cy="5431972"/>
          </a:xfrm>
          <a:prstGeom prst="rect">
            <a:avLst/>
          </a:prstGeom>
        </p:spPr>
      </p:pic>
    </p:spTree>
    <p:extLst>
      <p:ext uri="{BB962C8B-B14F-4D97-AF65-F5344CB8AC3E}">
        <p14:creationId xmlns:p14="http://schemas.microsoft.com/office/powerpoint/2010/main" val="2520655282"/>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PortalVTI</vt:lpstr>
      <vt:lpstr>Presentation of Capstone Project Statement Healthcare Claims Quality &amp; Compliance Platform</vt:lpstr>
      <vt:lpstr>CATALOG TABLEs - CONFIGURATIONS</vt:lpstr>
      <vt:lpstr>Overview of the project</vt:lpstr>
      <vt:lpstr>CATALOG TABLEs - BRONZE</vt:lpstr>
      <vt:lpstr>CATALOG TABLEs - SILVER</vt:lpstr>
      <vt:lpstr>CATALOG TABLEs - GOLD</vt:lpstr>
      <vt:lpstr>VOLUMES AND CATALOG OVERVIEW</vt:lpstr>
      <vt:lpstr>CONFIG</vt:lpstr>
      <vt:lpstr>CONFIG_INIT</vt:lpstr>
      <vt:lpstr>CONFIG_SETUP</vt:lpstr>
      <vt:lpstr>CONFIG_TABLES</vt:lpstr>
      <vt:lpstr>BRONZE</vt:lpstr>
      <vt:lpstr>BRONZE</vt:lpstr>
      <vt:lpstr>BRONZE</vt:lpstr>
      <vt:lpstr>BRONZE</vt:lpstr>
      <vt:lpstr>SILVER</vt:lpstr>
      <vt:lpstr>Silver</vt:lpstr>
      <vt:lpstr>Silver</vt:lpstr>
      <vt:lpstr>GOLD</vt:lpstr>
      <vt:lpstr>JOBS &amp; PIPELINES</vt:lpstr>
      <vt:lpstr>MEDISURE_INIT PIPELINE</vt:lpstr>
      <vt:lpstr>MEDISURE_INIT PIPELINE RUNS</vt:lpstr>
      <vt:lpstr>MEDISURE_BRONZE PIPELINE</vt:lpstr>
      <vt:lpstr>MEDISURE_BRONZE PIPELINE RUNS</vt:lpstr>
      <vt:lpstr>MEDISURE_BRONZE TASK SAMPLE</vt:lpstr>
      <vt:lpstr>MEDISURE_SILVER PIPELINE</vt:lpstr>
      <vt:lpstr>MEDISURE_SILVER PIPELINE RUNS</vt:lpstr>
      <vt:lpstr>MEDISURE_SILVER TASK SAMPLE</vt:lpstr>
      <vt:lpstr>MEDISURE_GOLD PIPELINE</vt:lpstr>
      <vt:lpstr>MEDISURE_GOLD PIPELINE RUNS</vt:lpstr>
      <vt:lpstr>MEDISURE_GOLD TASK SAMPLE</vt:lpstr>
      <vt:lpstr>MEDISURE_ORCHESTRATOR PIPELINE</vt:lpstr>
      <vt:lpstr>MEDISURE_ORCHESTRATOR PIPELINE/TASK SAMPLE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605</cp:revision>
  <dcterms:created xsi:type="dcterms:W3CDTF">2025-08-29T11:29:45Z</dcterms:created>
  <dcterms:modified xsi:type="dcterms:W3CDTF">2025-08-30T08:59:07Z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9a4386-74b9-4603-ae20-950a659f9b6e_Enabled">
    <vt:lpwstr>true</vt:lpwstr>
  </property>
  <property fmtid="{D5CDD505-2E9C-101B-9397-08002B2CF9AE}" pid="3" name="MSIP_Label_2e9a4386-74b9-4603-ae20-950a659f9b6e_SetDate">
    <vt:lpwstr>2025-08-29T11:29:50Z</vt:lpwstr>
  </property>
  <property fmtid="{D5CDD505-2E9C-101B-9397-08002B2CF9AE}" pid="4" name="MSIP_Label_2e9a4386-74b9-4603-ae20-950a659f9b6e_Method">
    <vt:lpwstr>Standard</vt:lpwstr>
  </property>
  <property fmtid="{D5CDD505-2E9C-101B-9397-08002B2CF9AE}" pid="5" name="MSIP_Label_2e9a4386-74b9-4603-ae20-950a659f9b6e_Name">
    <vt:lpwstr>Internal Use Only</vt:lpwstr>
  </property>
  <property fmtid="{D5CDD505-2E9C-101B-9397-08002B2CF9AE}" pid="6" name="MSIP_Label_2e9a4386-74b9-4603-ae20-950a659f9b6e_SiteId">
    <vt:lpwstr>c7d1a8f7-0546-4a0c-8cf5-3ddaebf97d51</vt:lpwstr>
  </property>
  <property fmtid="{D5CDD505-2E9C-101B-9397-08002B2CF9AE}" pid="7" name="MSIP_Label_2e9a4386-74b9-4603-ae20-950a659f9b6e_ActionId">
    <vt:lpwstr>a9816212-5d05-41f8-a238-9d51f03239cf</vt:lpwstr>
  </property>
  <property fmtid="{D5CDD505-2E9C-101B-9397-08002B2CF9AE}" pid="8" name="MSIP_Label_2e9a4386-74b9-4603-ae20-950a659f9b6e_ContentBits">
    <vt:lpwstr>0</vt:lpwstr>
  </property>
  <property fmtid="{D5CDD505-2E9C-101B-9397-08002B2CF9AE}" pid="9" name="MSIP_Label_2e9a4386-74b9-4603-ae20-950a659f9b6e_Tag">
    <vt:lpwstr>10, 3, 0, 2</vt:lpwstr>
  </property>
</Properties>
</file>